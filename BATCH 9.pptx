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71" r:id="rId2"/>
    <p:sldId id="256" r:id="rId3"/>
    <p:sldId id="25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67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78" y="11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2837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23F64BC7-2C87-483D-8126-1571582E98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headEnd/>
            <a:tailEnd/>
          </a:ln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417BCAEA-57D9-FF64-824F-752BB422CA2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ts val="1100"/>
              <a:buFont typeface="Arial" panose="020B0604020202020204" pitchFamily="34" charset="0"/>
              <a:buChar char="●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87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5549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d105746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d105746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185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d1057461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d1057461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26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50A1B5E-3E5A-FE16-A2CA-208539DCB9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00800" y="4767263"/>
            <a:ext cx="2289175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A6DFB2D-6287-4387-9392-754C26A43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898775" y="4767263"/>
            <a:ext cx="3505200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r>
              <a:rPr lang="en-US" altLang="en-US"/>
              <a:t>EGB1201 – JAVA PROGRAMMING –PROJECT REVIEW 1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1CC88B6-4F22-9915-F447-6DDCD81CC9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49557-650C-4E1E-88E1-6690AA61EE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77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jpe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0.png"/><Relationship Id="rId5" Type="http://schemas.openxmlformats.org/officeDocument/2006/relationships/image" Target="../media/image22.png"/><Relationship Id="rId10" Type="http://schemas.openxmlformats.org/officeDocument/2006/relationships/image" Target="../media/image14.png"/><Relationship Id="rId4" Type="http://schemas.openxmlformats.org/officeDocument/2006/relationships/image" Target="../media/image21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jpe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4E6930A5-9B8F-1E53-84C7-121ACA8BB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03512"/>
            <a:ext cx="8839200" cy="30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 bIns="0" anchor="b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500" b="1" dirty="0">
              <a:solidFill>
                <a:srgbClr val="3F3F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</a:t>
            </a:r>
          </a:p>
          <a:p>
            <a:pPr algn="ctr"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2026 – 2027 (Odd Semester)</a:t>
            </a:r>
          </a:p>
          <a:p>
            <a:pPr algn="ctr" eaLnBrk="1" hangingPunct="1"/>
            <a:endParaRPr lang="en-US" alt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			: II</a:t>
            </a: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		: III</a:t>
            </a: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		: B</a:t>
            </a:r>
          </a:p>
          <a:p>
            <a:pPr eaLnBrk="1" hangingPunct="1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			: 05.10.2026</a:t>
            </a:r>
          </a:p>
        </p:txBody>
      </p:sp>
      <p:sp>
        <p:nvSpPr>
          <p:cNvPr id="6147" name="Slide Number Placeholder 3">
            <a:extLst>
              <a:ext uri="{FF2B5EF4-FFF2-40B4-BE49-F238E27FC236}">
                <a16:creationId xmlns:a16="http://schemas.microsoft.com/office/drawing/2014/main" id="{FED27C9B-7D0B-508A-EC22-2D8A3DF5C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7C3B18-1B13-4272-916E-3B8D6A992976}" type="slidenum">
              <a:rPr lang="en-US" altLang="en-US" sz="1000">
                <a:solidFill>
                  <a:srgbClr val="595959"/>
                </a:solidFill>
              </a:rPr>
              <a:pPr/>
              <a:t>1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4D8D35-1749-350A-51CB-9EDDD8A2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>
            <a:normAutofit fontScale="90000"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pPr>
            <a:r>
              <a:rPr lang="en-US" b="1" dirty="0"/>
              <a:t>A</a:t>
            </a:r>
            <a:r>
              <a:rPr lang="en-US" sz="2800" b="1" dirty="0">
                <a:solidFill>
                  <a:schemeClr val="dk1"/>
                </a:solidFill>
                <a:sym typeface="Arial"/>
              </a:rPr>
              <a:t>GI1242 – MACHINE LEARNING TECHNIQUES</a:t>
            </a:r>
            <a:br>
              <a:rPr lang="en-US" sz="2800" b="1" dirty="0">
                <a:solidFill>
                  <a:schemeClr val="dk1"/>
                </a:solidFill>
                <a:sym typeface="Arial"/>
              </a:rPr>
            </a:br>
            <a:r>
              <a:rPr lang="en-US" sz="2800" b="1" dirty="0">
                <a:solidFill>
                  <a:schemeClr val="dk1"/>
                </a:solidFill>
                <a:sym typeface="Arial"/>
              </a:rPr>
              <a:t>CIA 2 REVIEW</a:t>
            </a:r>
          </a:p>
        </p:txBody>
      </p:sp>
      <p:pic>
        <p:nvPicPr>
          <p:cNvPr id="6150" name="Picture 7">
            <a:extLst>
              <a:ext uri="{FF2B5EF4-FFF2-40B4-BE49-F238E27FC236}">
                <a16:creationId xmlns:a16="http://schemas.microsoft.com/office/drawing/2014/main" id="{50258EFD-0431-AABF-DA1F-0D1979DAF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397"/>
          <a:stretch>
            <a:fillRect/>
          </a:stretch>
        </p:blipFill>
        <p:spPr bwMode="auto">
          <a:xfrm>
            <a:off x="258763" y="0"/>
            <a:ext cx="1023937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Google Shape;64;p14">
            <a:extLst>
              <a:ext uri="{FF2B5EF4-FFF2-40B4-BE49-F238E27FC236}">
                <a16:creationId xmlns:a16="http://schemas.microsoft.com/office/drawing/2014/main" id="{69403B3C-15A8-86DB-2787-7DE8F59E1DE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263" y="157163"/>
            <a:ext cx="7635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74624" y="1558050"/>
            <a:ext cx="85206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3900" b="1" dirty="0">
                <a:solidFill>
                  <a:schemeClr val="dk1"/>
                </a:solidFill>
              </a:rPr>
              <a:t>Credit Card Fraud Detection Using Machine Learning</a:t>
            </a:r>
            <a:endParaRPr sz="3900" b="1" dirty="0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634924" cy="14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85853" y="2900518"/>
            <a:ext cx="4634923" cy="200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FF"/>
                </a:solidFill>
              </a:rPr>
              <a:t>PRESENTED BY</a:t>
            </a:r>
          </a:p>
          <a:p>
            <a:r>
              <a:rPr lang="en-IN" sz="1800" b="1" dirty="0">
                <a:solidFill>
                  <a:srgbClr val="0000FF"/>
                </a:solidFill>
              </a:rPr>
              <a:t>2503811724322119 – Vishaal Deva CR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spcBef>
                <a:spcPts val="300"/>
              </a:spcBef>
            </a:pPr>
            <a:r>
              <a:rPr lang="en-IN" sz="1800" b="1" dirty="0">
                <a:solidFill>
                  <a:srgbClr val="0000FF"/>
                </a:solidFill>
              </a:rPr>
              <a:t>2503811724322111 – </a:t>
            </a:r>
            <a:r>
              <a:rPr lang="en-IN" sz="1800" b="1" dirty="0" err="1">
                <a:solidFill>
                  <a:srgbClr val="0000FF"/>
                </a:solidFill>
              </a:rPr>
              <a:t>Swathi.G</a:t>
            </a:r>
            <a:endParaRPr lang="en-IN" sz="1800" b="1" dirty="0">
              <a:solidFill>
                <a:srgbClr val="0000FF"/>
              </a:solidFill>
            </a:endParaRPr>
          </a:p>
          <a:p>
            <a:pPr lvl="0">
              <a:spcBef>
                <a:spcPts val="300"/>
              </a:spcBef>
            </a:pPr>
            <a:r>
              <a:rPr lang="en-IN" sz="1800" b="1" dirty="0">
                <a:solidFill>
                  <a:srgbClr val="0000FF"/>
                </a:solidFill>
              </a:rPr>
              <a:t>2503811724322125 – </a:t>
            </a:r>
            <a:r>
              <a:rPr lang="en-IN" sz="1800" b="1" dirty="0" err="1">
                <a:solidFill>
                  <a:srgbClr val="0000FF"/>
                </a:solidFill>
              </a:rPr>
              <a:t>Yazhini.B</a:t>
            </a:r>
            <a:endParaRPr lang="en-IN" sz="1800" b="1" dirty="0">
              <a:solidFill>
                <a:srgbClr val="0000FF"/>
              </a:solidFill>
            </a:endParaRPr>
          </a:p>
          <a:p>
            <a:pPr>
              <a:spcBef>
                <a:spcPts val="300"/>
              </a:spcBef>
            </a:pPr>
            <a:r>
              <a:rPr lang="en-IN" sz="1800" b="1" dirty="0">
                <a:solidFill>
                  <a:srgbClr val="0000FF"/>
                </a:solidFill>
              </a:rPr>
              <a:t>2503811724322094 – </a:t>
            </a:r>
            <a:r>
              <a:rPr lang="en-IN" sz="1800" b="1" dirty="0" err="1">
                <a:solidFill>
                  <a:srgbClr val="0000FF"/>
                </a:solidFill>
              </a:rPr>
              <a:t>Sarnika.J.R</a:t>
            </a:r>
            <a:endParaRPr lang="en-IN" sz="1800" b="1" dirty="0">
              <a:solidFill>
                <a:srgbClr val="0000FF"/>
              </a:solidFill>
            </a:endParaRPr>
          </a:p>
          <a:p>
            <a:pPr lvl="0">
              <a:spcBef>
                <a:spcPts val="300"/>
              </a:spcBef>
            </a:pPr>
            <a:r>
              <a:rPr lang="en-IN" sz="1800" b="1" dirty="0">
                <a:solidFill>
                  <a:srgbClr val="0000FF"/>
                </a:solidFill>
              </a:rPr>
              <a:t>2503811724322096 – Sathiya </a:t>
            </a:r>
            <a:r>
              <a:rPr lang="en-IN" sz="1800" b="1" dirty="0" err="1">
                <a:solidFill>
                  <a:srgbClr val="0000FF"/>
                </a:solidFill>
              </a:rPr>
              <a:t>Christina.A</a:t>
            </a:r>
            <a:endParaRPr lang="en" sz="1800" b="1" dirty="0">
              <a:solidFill>
                <a:srgbClr val="0000FF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742571" y="3195283"/>
            <a:ext cx="4015800" cy="1054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00FF"/>
                </a:solidFill>
              </a:rPr>
              <a:t>GUIDED BY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spcBef>
                <a:spcPts val="300"/>
              </a:spcBef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PB.ARAVIND PRASAD AP/AI&amp;DS</a:t>
            </a: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4250" y="3"/>
            <a:ext cx="79974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249400" y="1000000"/>
            <a:ext cx="8600000" cy="3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Objective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Problem Identification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Flow Diagram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System Architecture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Literature Survey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Research Methodology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Algorithm Comparison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Implementation Idea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Modules (5 Modules)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 b="1" dirty="0">
                <a:solidFill>
                  <a:schemeClr val="dk1"/>
                </a:solidFill>
              </a:rPr>
              <a:t>Conclusion</a:t>
            </a: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PRESENTATION OVERVIEW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OBJECTIVE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Shape 0"/>
          <p:cNvSpPr/>
          <p:nvPr/>
        </p:nvSpPr>
        <p:spPr>
          <a:xfrm>
            <a:off x="365760" y="1600200"/>
            <a:ext cx="1554480" cy="2331720"/>
          </a:xfrm>
          <a:prstGeom prst="rect">
            <a:avLst/>
          </a:prstGeom>
          <a:solidFill>
            <a:srgbClr val="F4F6FA"/>
          </a:solidFill>
          <a:ln w="15875">
            <a:solidFill>
              <a:srgbClr val="F28C28"/>
            </a:solidFill>
            <a:prstDash val="solid"/>
          </a:ln>
        </p:spPr>
      </p:sp>
      <p:sp>
        <p:nvSpPr>
          <p:cNvPr id="1002" name="Shape 1"/>
          <p:cNvSpPr/>
          <p:nvPr/>
        </p:nvSpPr>
        <p:spPr>
          <a:xfrm>
            <a:off x="667512" y="1124712"/>
            <a:ext cx="950976" cy="950976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003" name="Shape 2"/>
          <p:cNvSpPr/>
          <p:nvPr/>
        </p:nvSpPr>
        <p:spPr>
          <a:xfrm>
            <a:off x="731520" y="1188720"/>
            <a:ext cx="822960" cy="8229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04" name="Image 0" descr="/home/claude/ic/Fa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1" y="1378001"/>
            <a:ext cx="444398" cy="444398"/>
          </a:xfrm>
          <a:prstGeom prst="rect">
            <a:avLst/>
          </a:prstGeom>
        </p:spPr>
      </p:pic>
      <p:sp>
        <p:nvSpPr>
          <p:cNvPr id="1005" name="Text 3"/>
          <p:cNvSpPr txBox="1"/>
          <p:nvPr/>
        </p:nvSpPr>
        <p:spPr>
          <a:xfrm>
            <a:off x="365760" y="2121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06" name="Text 4"/>
          <p:cNvSpPr txBox="1"/>
          <p:nvPr/>
        </p:nvSpPr>
        <p:spPr>
          <a:xfrm>
            <a:off x="411480" y="2359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fraud fast</a:t>
            </a:r>
            <a:endParaRPr lang="en-US" sz="1300" dirty="0"/>
          </a:p>
        </p:txBody>
      </p:sp>
      <p:sp>
        <p:nvSpPr>
          <p:cNvPr id="1007" name="Text 5"/>
          <p:cNvSpPr txBox="1"/>
          <p:nvPr/>
        </p:nvSpPr>
        <p:spPr>
          <a:xfrm>
            <a:off x="475488" y="29260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suspicious swipes in near real time</a:t>
            </a:r>
            <a:endParaRPr lang="en-US" sz="1050" dirty="0"/>
          </a:p>
        </p:txBody>
      </p:sp>
      <p:sp>
        <p:nvSpPr>
          <p:cNvPr id="1008" name="Shape 6"/>
          <p:cNvSpPr/>
          <p:nvPr/>
        </p:nvSpPr>
        <p:spPr>
          <a:xfrm>
            <a:off x="2084832" y="1600200"/>
            <a:ext cx="1554480" cy="2331720"/>
          </a:xfrm>
          <a:prstGeom prst="rect">
            <a:avLst/>
          </a:prstGeom>
          <a:solidFill>
            <a:srgbClr val="F4F6FA"/>
          </a:solidFill>
          <a:ln w="15875">
            <a:solidFill>
              <a:srgbClr val="7B4BC9"/>
            </a:solidFill>
            <a:prstDash val="solid"/>
          </a:ln>
        </p:spPr>
      </p:sp>
      <p:sp>
        <p:nvSpPr>
          <p:cNvPr id="1009" name="Shape 7"/>
          <p:cNvSpPr/>
          <p:nvPr/>
        </p:nvSpPr>
        <p:spPr>
          <a:xfrm>
            <a:off x="2386584" y="1124712"/>
            <a:ext cx="950976" cy="950976"/>
          </a:xfrm>
          <a:prstGeom prst="ellipse">
            <a:avLst/>
          </a:prstGeom>
          <a:ln w="15875">
            <a:solidFill>
              <a:srgbClr val="7B4BC9"/>
            </a:solidFill>
            <a:prstDash val="dash"/>
          </a:ln>
        </p:spPr>
      </p:sp>
      <p:sp>
        <p:nvSpPr>
          <p:cNvPr id="1010" name="Shape 8"/>
          <p:cNvSpPr/>
          <p:nvPr/>
        </p:nvSpPr>
        <p:spPr>
          <a:xfrm>
            <a:off x="2450592" y="1188720"/>
            <a:ext cx="822960" cy="822960"/>
          </a:xfrm>
          <a:prstGeom prst="ellipse">
            <a:avLst/>
          </a:prstGeom>
          <a:solidFill>
            <a:srgbClr val="7B4BC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11" name="Image 1" descr="/home/claude/ic/Fa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9873" y="1378001"/>
            <a:ext cx="444398" cy="444398"/>
          </a:xfrm>
          <a:prstGeom prst="rect">
            <a:avLst/>
          </a:prstGeom>
        </p:spPr>
      </p:pic>
      <p:sp>
        <p:nvSpPr>
          <p:cNvPr id="1012" name="Text 9"/>
          <p:cNvSpPr txBox="1"/>
          <p:nvPr/>
        </p:nvSpPr>
        <p:spPr>
          <a:xfrm>
            <a:off x="2084832" y="2121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13" name="Text 10"/>
          <p:cNvSpPr txBox="1"/>
          <p:nvPr/>
        </p:nvSpPr>
        <p:spPr>
          <a:xfrm>
            <a:off x="2130552" y="2359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needle</a:t>
            </a:r>
            <a:endParaRPr lang="en-US" sz="1300" dirty="0"/>
          </a:p>
        </p:txBody>
      </p:sp>
      <p:sp>
        <p:nvSpPr>
          <p:cNvPr id="1014" name="Text 11"/>
          <p:cNvSpPr txBox="1"/>
          <p:nvPr/>
        </p:nvSpPr>
        <p:spPr>
          <a:xfrm>
            <a:off x="2194560" y="29260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fraud being under 0.2% of all data</a:t>
            </a:r>
            <a:endParaRPr lang="en-US" sz="1050" dirty="0"/>
          </a:p>
        </p:txBody>
      </p:sp>
      <p:sp>
        <p:nvSpPr>
          <p:cNvPr id="1015" name="Shape 12"/>
          <p:cNvSpPr/>
          <p:nvPr/>
        </p:nvSpPr>
        <p:spPr>
          <a:xfrm>
            <a:off x="3803904" y="1600200"/>
            <a:ext cx="1554480" cy="2331720"/>
          </a:xfrm>
          <a:prstGeom prst="rect">
            <a:avLst/>
          </a:prstGeom>
          <a:solidFill>
            <a:srgbClr val="F4F6FA"/>
          </a:solidFill>
          <a:ln w="15875">
            <a:solidFill>
              <a:srgbClr val="27AE60"/>
            </a:solidFill>
            <a:prstDash val="solid"/>
          </a:ln>
        </p:spPr>
      </p:sp>
      <p:sp>
        <p:nvSpPr>
          <p:cNvPr id="1016" name="Shape 13"/>
          <p:cNvSpPr/>
          <p:nvPr/>
        </p:nvSpPr>
        <p:spPr>
          <a:xfrm>
            <a:off x="4105656" y="1124712"/>
            <a:ext cx="950976" cy="950976"/>
          </a:xfrm>
          <a:prstGeom prst="ellipse">
            <a:avLst/>
          </a:prstGeom>
          <a:ln w="15875">
            <a:solidFill>
              <a:srgbClr val="27AE60"/>
            </a:solidFill>
            <a:prstDash val="dash"/>
          </a:ln>
        </p:spPr>
      </p:sp>
      <p:sp>
        <p:nvSpPr>
          <p:cNvPr id="1017" name="Shape 14"/>
          <p:cNvSpPr/>
          <p:nvPr/>
        </p:nvSpPr>
        <p:spPr>
          <a:xfrm>
            <a:off x="4169664" y="1188720"/>
            <a:ext cx="822960" cy="82296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18" name="Image 2" descr="/home/claude/ic/FaUser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8945" y="1378001"/>
            <a:ext cx="444398" cy="444398"/>
          </a:xfrm>
          <a:prstGeom prst="rect">
            <a:avLst/>
          </a:prstGeom>
        </p:spPr>
      </p:pic>
      <p:sp>
        <p:nvSpPr>
          <p:cNvPr id="1019" name="Text 15"/>
          <p:cNvSpPr txBox="1"/>
          <p:nvPr/>
        </p:nvSpPr>
        <p:spPr>
          <a:xfrm>
            <a:off x="3803904" y="2121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020" name="Text 16"/>
          <p:cNvSpPr txBox="1"/>
          <p:nvPr/>
        </p:nvSpPr>
        <p:spPr>
          <a:xfrm>
            <a:off x="3849624" y="2359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fair to customers</a:t>
            </a:r>
            <a:endParaRPr lang="en-US" sz="1300" dirty="0"/>
          </a:p>
        </p:txBody>
      </p:sp>
      <p:sp>
        <p:nvSpPr>
          <p:cNvPr id="1021" name="Text 17"/>
          <p:cNvSpPr txBox="1"/>
          <p:nvPr/>
        </p:nvSpPr>
        <p:spPr>
          <a:xfrm>
            <a:off x="3913632" y="29260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with few false alarms</a:t>
            </a:r>
            <a:endParaRPr lang="en-US" sz="1050" dirty="0"/>
          </a:p>
        </p:txBody>
      </p:sp>
      <p:sp>
        <p:nvSpPr>
          <p:cNvPr id="1022" name="Shape 18"/>
          <p:cNvSpPr/>
          <p:nvPr/>
        </p:nvSpPr>
        <p:spPr>
          <a:xfrm>
            <a:off x="5522976" y="1600200"/>
            <a:ext cx="1554480" cy="2331720"/>
          </a:xfrm>
          <a:prstGeom prst="rect">
            <a:avLst/>
          </a:prstGeom>
          <a:solidFill>
            <a:srgbClr val="F4F6FA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1023" name="Shape 19"/>
          <p:cNvSpPr/>
          <p:nvPr/>
        </p:nvSpPr>
        <p:spPr>
          <a:xfrm>
            <a:off x="5824728" y="1124712"/>
            <a:ext cx="950976" cy="950976"/>
          </a:xfrm>
          <a:prstGeom prst="ellipse">
            <a:avLst/>
          </a:prstGeom>
          <a:ln w="15875">
            <a:solidFill>
              <a:srgbClr val="3776AB"/>
            </a:solidFill>
            <a:prstDash val="dash"/>
          </a:ln>
        </p:spPr>
      </p:sp>
      <p:sp>
        <p:nvSpPr>
          <p:cNvPr id="1024" name="Shape 20"/>
          <p:cNvSpPr/>
          <p:nvPr/>
        </p:nvSpPr>
        <p:spPr>
          <a:xfrm>
            <a:off x="5888736" y="1188720"/>
            <a:ext cx="822960" cy="822960"/>
          </a:xfrm>
          <a:prstGeom prst="ellipse">
            <a:avLst/>
          </a:prstGeom>
          <a:solidFill>
            <a:srgbClr val="3776A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25" name="Image 3" descr="/home/claude/ic/Fa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8017" y="1378001"/>
            <a:ext cx="444398" cy="444398"/>
          </a:xfrm>
          <a:prstGeom prst="rect">
            <a:avLst/>
          </a:prstGeom>
        </p:spPr>
      </p:pic>
      <p:sp>
        <p:nvSpPr>
          <p:cNvPr id="1026" name="Text 21"/>
          <p:cNvSpPr txBox="1"/>
          <p:nvPr/>
        </p:nvSpPr>
        <p:spPr>
          <a:xfrm>
            <a:off x="5522976" y="2121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027" name="Text 22"/>
          <p:cNvSpPr txBox="1"/>
          <p:nvPr/>
        </p:nvSpPr>
        <p:spPr>
          <a:xfrm>
            <a:off x="5568696" y="2359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best brain</a:t>
            </a:r>
            <a:endParaRPr lang="en-US" sz="1300" dirty="0"/>
          </a:p>
        </p:txBody>
      </p:sp>
      <p:sp>
        <p:nvSpPr>
          <p:cNvPr id="1028" name="Text 23"/>
          <p:cNvSpPr txBox="1"/>
          <p:nvPr/>
        </p:nvSpPr>
        <p:spPr>
          <a:xfrm>
            <a:off x="5632704" y="29260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classical and ensemble models</a:t>
            </a:r>
            <a:endParaRPr lang="en-US" sz="1050" dirty="0"/>
          </a:p>
        </p:txBody>
      </p:sp>
      <p:sp>
        <p:nvSpPr>
          <p:cNvPr id="1029" name="Shape 24"/>
          <p:cNvSpPr/>
          <p:nvPr/>
        </p:nvSpPr>
        <p:spPr>
          <a:xfrm>
            <a:off x="7242048" y="1600200"/>
            <a:ext cx="1554480" cy="2331720"/>
          </a:xfrm>
          <a:prstGeom prst="rect">
            <a:avLst/>
          </a:prstGeom>
          <a:solidFill>
            <a:srgbClr val="F4F6FA"/>
          </a:solidFill>
          <a:ln w="15875">
            <a:solidFill>
              <a:srgbClr val="0FA3B1"/>
            </a:solidFill>
            <a:prstDash val="solid"/>
          </a:ln>
        </p:spPr>
      </p:sp>
      <p:sp>
        <p:nvSpPr>
          <p:cNvPr id="1030" name="Shape 25"/>
          <p:cNvSpPr/>
          <p:nvPr/>
        </p:nvSpPr>
        <p:spPr>
          <a:xfrm>
            <a:off x="7543800" y="1124712"/>
            <a:ext cx="950976" cy="950976"/>
          </a:xfrm>
          <a:prstGeom prst="ellipse">
            <a:avLst/>
          </a:prstGeom>
          <a:ln w="15875">
            <a:solidFill>
              <a:srgbClr val="0FA3B1"/>
            </a:solidFill>
            <a:prstDash val="dash"/>
          </a:ln>
        </p:spPr>
      </p:sp>
      <p:sp>
        <p:nvSpPr>
          <p:cNvPr id="1031" name="Shape 26"/>
          <p:cNvSpPr/>
          <p:nvPr/>
        </p:nvSpPr>
        <p:spPr>
          <a:xfrm>
            <a:off x="7607808" y="1188720"/>
            <a:ext cx="822960" cy="822960"/>
          </a:xfrm>
          <a:prstGeom prst="ellipse">
            <a:avLst/>
          </a:prstGeom>
          <a:solidFill>
            <a:srgbClr val="0FA3B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32" name="Image 4" descr="/home/claude/ic/Fa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7089" y="1378001"/>
            <a:ext cx="444398" cy="444398"/>
          </a:xfrm>
          <a:prstGeom prst="rect">
            <a:avLst/>
          </a:prstGeom>
        </p:spPr>
      </p:pic>
      <p:sp>
        <p:nvSpPr>
          <p:cNvPr id="1033" name="Text 27"/>
          <p:cNvSpPr txBox="1"/>
          <p:nvPr/>
        </p:nvSpPr>
        <p:spPr>
          <a:xfrm>
            <a:off x="7242048" y="2121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034" name="Text 28"/>
          <p:cNvSpPr txBox="1"/>
          <p:nvPr/>
        </p:nvSpPr>
        <p:spPr>
          <a:xfrm>
            <a:off x="7287768" y="2359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alert</a:t>
            </a:r>
            <a:endParaRPr lang="en-US" sz="1300" dirty="0"/>
          </a:p>
        </p:txBody>
      </p:sp>
      <p:sp>
        <p:nvSpPr>
          <p:cNvPr id="1035" name="Text 29"/>
          <p:cNvSpPr txBox="1"/>
          <p:nvPr/>
        </p:nvSpPr>
        <p:spPr>
          <a:xfrm>
            <a:off x="7351776" y="292608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analysts clear reasons using SHAP</a:t>
            </a:r>
            <a:endParaRPr lang="en-US" sz="1050" dirty="0"/>
          </a:p>
        </p:txBody>
      </p:sp>
      <p:sp>
        <p:nvSpPr>
          <p:cNvPr id="1036" name="Shape 30"/>
          <p:cNvSpPr/>
          <p:nvPr/>
        </p:nvSpPr>
        <p:spPr>
          <a:xfrm>
            <a:off x="365760" y="4160520"/>
            <a:ext cx="8412480" cy="45720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/>
        </p:spPr>
      </p:sp>
      <p:sp>
        <p:nvSpPr>
          <p:cNvPr id="1037" name="Text 31"/>
          <p:cNvSpPr txBox="1"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fraud fast, annoy genuine customers never.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PROBLEM IDENTIFICATION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Shape 0"/>
          <p:cNvSpPr/>
          <p:nvPr/>
        </p:nvSpPr>
        <p:spPr>
          <a:xfrm>
            <a:off x="50292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39" name="Shape 1"/>
          <p:cNvSpPr/>
          <p:nvPr/>
        </p:nvSpPr>
        <p:spPr>
          <a:xfrm>
            <a:off x="77724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0" name="Shape 2"/>
          <p:cNvSpPr/>
          <p:nvPr/>
        </p:nvSpPr>
        <p:spPr>
          <a:xfrm>
            <a:off x="105156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1" name="Shape 3"/>
          <p:cNvSpPr/>
          <p:nvPr/>
        </p:nvSpPr>
        <p:spPr>
          <a:xfrm>
            <a:off x="132588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2" name="Shape 4"/>
          <p:cNvSpPr/>
          <p:nvPr/>
        </p:nvSpPr>
        <p:spPr>
          <a:xfrm>
            <a:off x="160020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3" name="Shape 5"/>
          <p:cNvSpPr/>
          <p:nvPr/>
        </p:nvSpPr>
        <p:spPr>
          <a:xfrm>
            <a:off x="187452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4" name="Shape 6"/>
          <p:cNvSpPr/>
          <p:nvPr/>
        </p:nvSpPr>
        <p:spPr>
          <a:xfrm>
            <a:off x="214884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5" name="Shape 7"/>
          <p:cNvSpPr/>
          <p:nvPr/>
        </p:nvSpPr>
        <p:spPr>
          <a:xfrm>
            <a:off x="242316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6" name="Shape 8"/>
          <p:cNvSpPr/>
          <p:nvPr/>
        </p:nvSpPr>
        <p:spPr>
          <a:xfrm>
            <a:off x="269748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7" name="Shape 9"/>
          <p:cNvSpPr/>
          <p:nvPr/>
        </p:nvSpPr>
        <p:spPr>
          <a:xfrm>
            <a:off x="297180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8" name="Shape 10"/>
          <p:cNvSpPr/>
          <p:nvPr/>
        </p:nvSpPr>
        <p:spPr>
          <a:xfrm>
            <a:off x="324612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49" name="Shape 11"/>
          <p:cNvSpPr/>
          <p:nvPr/>
        </p:nvSpPr>
        <p:spPr>
          <a:xfrm>
            <a:off x="3520440" y="11887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0" name="Shape 12"/>
          <p:cNvSpPr/>
          <p:nvPr/>
        </p:nvSpPr>
        <p:spPr>
          <a:xfrm>
            <a:off x="50292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1" name="Shape 13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2" name="Shape 14"/>
          <p:cNvSpPr/>
          <p:nvPr/>
        </p:nvSpPr>
        <p:spPr>
          <a:xfrm>
            <a:off x="105156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3" name="Shape 15"/>
          <p:cNvSpPr/>
          <p:nvPr/>
        </p:nvSpPr>
        <p:spPr>
          <a:xfrm>
            <a:off x="132588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4" name="Shape 16"/>
          <p:cNvSpPr/>
          <p:nvPr/>
        </p:nvSpPr>
        <p:spPr>
          <a:xfrm>
            <a:off x="160020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5" name="Shape 17"/>
          <p:cNvSpPr/>
          <p:nvPr/>
        </p:nvSpPr>
        <p:spPr>
          <a:xfrm>
            <a:off x="187452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6" name="Shape 18"/>
          <p:cNvSpPr/>
          <p:nvPr/>
        </p:nvSpPr>
        <p:spPr>
          <a:xfrm>
            <a:off x="214884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7" name="Shape 19"/>
          <p:cNvSpPr/>
          <p:nvPr/>
        </p:nvSpPr>
        <p:spPr>
          <a:xfrm>
            <a:off x="242316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8" name="Shape 20"/>
          <p:cNvSpPr/>
          <p:nvPr/>
        </p:nvSpPr>
        <p:spPr>
          <a:xfrm>
            <a:off x="269748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59" name="Shape 21"/>
          <p:cNvSpPr/>
          <p:nvPr/>
        </p:nvSpPr>
        <p:spPr>
          <a:xfrm>
            <a:off x="297180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0" name="Shape 22"/>
          <p:cNvSpPr/>
          <p:nvPr/>
        </p:nvSpPr>
        <p:spPr>
          <a:xfrm>
            <a:off x="324612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1" name="Shape 23"/>
          <p:cNvSpPr/>
          <p:nvPr/>
        </p:nvSpPr>
        <p:spPr>
          <a:xfrm>
            <a:off x="3520440" y="146304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2" name="Shape 24"/>
          <p:cNvSpPr/>
          <p:nvPr/>
        </p:nvSpPr>
        <p:spPr>
          <a:xfrm>
            <a:off x="50292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3" name="Shape 25"/>
          <p:cNvSpPr/>
          <p:nvPr/>
        </p:nvSpPr>
        <p:spPr>
          <a:xfrm>
            <a:off x="77724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4" name="Shape 26"/>
          <p:cNvSpPr/>
          <p:nvPr/>
        </p:nvSpPr>
        <p:spPr>
          <a:xfrm>
            <a:off x="105156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5" name="Shape 27"/>
          <p:cNvSpPr/>
          <p:nvPr/>
        </p:nvSpPr>
        <p:spPr>
          <a:xfrm>
            <a:off x="132588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6" name="Shape 28"/>
          <p:cNvSpPr/>
          <p:nvPr/>
        </p:nvSpPr>
        <p:spPr>
          <a:xfrm>
            <a:off x="160020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7" name="Shape 29"/>
          <p:cNvSpPr/>
          <p:nvPr/>
        </p:nvSpPr>
        <p:spPr>
          <a:xfrm>
            <a:off x="187452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8" name="Shape 30"/>
          <p:cNvSpPr/>
          <p:nvPr/>
        </p:nvSpPr>
        <p:spPr>
          <a:xfrm>
            <a:off x="214884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69" name="Shape 31"/>
          <p:cNvSpPr/>
          <p:nvPr/>
        </p:nvSpPr>
        <p:spPr>
          <a:xfrm>
            <a:off x="242316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70" name="Shape 32"/>
          <p:cNvSpPr/>
          <p:nvPr/>
        </p:nvSpPr>
        <p:spPr>
          <a:xfrm>
            <a:off x="2606040" y="1691640"/>
            <a:ext cx="219456" cy="219456"/>
          </a:xfrm>
          <a:prstGeom prst="ellipse">
            <a:avLst/>
          </a:prstGeom>
          <a:ln w="19050">
            <a:solidFill>
              <a:srgbClr val="E74C3C"/>
            </a:solidFill>
            <a:prstDash val="solid"/>
          </a:ln>
        </p:spPr>
      </p:sp>
      <p:sp>
        <p:nvSpPr>
          <p:cNvPr id="1071" name="Shape 33"/>
          <p:cNvSpPr/>
          <p:nvPr/>
        </p:nvSpPr>
        <p:spPr>
          <a:xfrm>
            <a:off x="2697480" y="1737360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72" name="Shape 34"/>
          <p:cNvSpPr/>
          <p:nvPr/>
        </p:nvSpPr>
        <p:spPr>
          <a:xfrm>
            <a:off x="297180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73" name="Shape 35"/>
          <p:cNvSpPr/>
          <p:nvPr/>
        </p:nvSpPr>
        <p:spPr>
          <a:xfrm>
            <a:off x="324612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74" name="Shape 36"/>
          <p:cNvSpPr/>
          <p:nvPr/>
        </p:nvSpPr>
        <p:spPr>
          <a:xfrm>
            <a:off x="3520440" y="173736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75" name="Shape 37"/>
          <p:cNvSpPr/>
          <p:nvPr/>
        </p:nvSpPr>
        <p:spPr>
          <a:xfrm>
            <a:off x="50292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76" name="Shape 38"/>
          <p:cNvSpPr/>
          <p:nvPr/>
        </p:nvSpPr>
        <p:spPr>
          <a:xfrm>
            <a:off x="77724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77" name="Shape 39"/>
          <p:cNvSpPr/>
          <p:nvPr/>
        </p:nvSpPr>
        <p:spPr>
          <a:xfrm>
            <a:off x="105156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78" name="Shape 40"/>
          <p:cNvSpPr/>
          <p:nvPr/>
        </p:nvSpPr>
        <p:spPr>
          <a:xfrm>
            <a:off x="132588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79" name="Shape 41"/>
          <p:cNvSpPr/>
          <p:nvPr/>
        </p:nvSpPr>
        <p:spPr>
          <a:xfrm>
            <a:off x="160020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0" name="Shape 42"/>
          <p:cNvSpPr/>
          <p:nvPr/>
        </p:nvSpPr>
        <p:spPr>
          <a:xfrm>
            <a:off x="187452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1" name="Shape 43"/>
          <p:cNvSpPr/>
          <p:nvPr/>
        </p:nvSpPr>
        <p:spPr>
          <a:xfrm>
            <a:off x="214884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2" name="Shape 44"/>
          <p:cNvSpPr/>
          <p:nvPr/>
        </p:nvSpPr>
        <p:spPr>
          <a:xfrm>
            <a:off x="242316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3" name="Shape 45"/>
          <p:cNvSpPr/>
          <p:nvPr/>
        </p:nvSpPr>
        <p:spPr>
          <a:xfrm>
            <a:off x="269748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4" name="Shape 46"/>
          <p:cNvSpPr/>
          <p:nvPr/>
        </p:nvSpPr>
        <p:spPr>
          <a:xfrm>
            <a:off x="297180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5" name="Shape 47"/>
          <p:cNvSpPr/>
          <p:nvPr/>
        </p:nvSpPr>
        <p:spPr>
          <a:xfrm>
            <a:off x="324612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6" name="Shape 48"/>
          <p:cNvSpPr/>
          <p:nvPr/>
        </p:nvSpPr>
        <p:spPr>
          <a:xfrm>
            <a:off x="3520440" y="201168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7" name="Shape 49"/>
          <p:cNvSpPr/>
          <p:nvPr/>
        </p:nvSpPr>
        <p:spPr>
          <a:xfrm>
            <a:off x="50292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8" name="Shape 50"/>
          <p:cNvSpPr/>
          <p:nvPr/>
        </p:nvSpPr>
        <p:spPr>
          <a:xfrm>
            <a:off x="77724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89" name="Shape 51"/>
          <p:cNvSpPr/>
          <p:nvPr/>
        </p:nvSpPr>
        <p:spPr>
          <a:xfrm>
            <a:off x="105156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0" name="Shape 52"/>
          <p:cNvSpPr/>
          <p:nvPr/>
        </p:nvSpPr>
        <p:spPr>
          <a:xfrm>
            <a:off x="132588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1" name="Shape 53"/>
          <p:cNvSpPr/>
          <p:nvPr/>
        </p:nvSpPr>
        <p:spPr>
          <a:xfrm>
            <a:off x="160020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2" name="Shape 54"/>
          <p:cNvSpPr/>
          <p:nvPr/>
        </p:nvSpPr>
        <p:spPr>
          <a:xfrm>
            <a:off x="187452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3" name="Shape 55"/>
          <p:cNvSpPr/>
          <p:nvPr/>
        </p:nvSpPr>
        <p:spPr>
          <a:xfrm>
            <a:off x="214884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4" name="Shape 56"/>
          <p:cNvSpPr/>
          <p:nvPr/>
        </p:nvSpPr>
        <p:spPr>
          <a:xfrm>
            <a:off x="242316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5" name="Shape 57"/>
          <p:cNvSpPr/>
          <p:nvPr/>
        </p:nvSpPr>
        <p:spPr>
          <a:xfrm>
            <a:off x="269748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6" name="Shape 58"/>
          <p:cNvSpPr/>
          <p:nvPr/>
        </p:nvSpPr>
        <p:spPr>
          <a:xfrm>
            <a:off x="297180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7" name="Shape 59"/>
          <p:cNvSpPr/>
          <p:nvPr/>
        </p:nvSpPr>
        <p:spPr>
          <a:xfrm>
            <a:off x="324612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8" name="Shape 60"/>
          <p:cNvSpPr/>
          <p:nvPr/>
        </p:nvSpPr>
        <p:spPr>
          <a:xfrm>
            <a:off x="3520440" y="228600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099" name="Shape 61"/>
          <p:cNvSpPr/>
          <p:nvPr/>
        </p:nvSpPr>
        <p:spPr>
          <a:xfrm>
            <a:off x="50292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0" name="Shape 62"/>
          <p:cNvSpPr/>
          <p:nvPr/>
        </p:nvSpPr>
        <p:spPr>
          <a:xfrm>
            <a:off x="77724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1" name="Shape 63"/>
          <p:cNvSpPr/>
          <p:nvPr/>
        </p:nvSpPr>
        <p:spPr>
          <a:xfrm>
            <a:off x="105156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2" name="Shape 64"/>
          <p:cNvSpPr/>
          <p:nvPr/>
        </p:nvSpPr>
        <p:spPr>
          <a:xfrm>
            <a:off x="132588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3" name="Shape 65"/>
          <p:cNvSpPr/>
          <p:nvPr/>
        </p:nvSpPr>
        <p:spPr>
          <a:xfrm>
            <a:off x="160020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4" name="Shape 66"/>
          <p:cNvSpPr/>
          <p:nvPr/>
        </p:nvSpPr>
        <p:spPr>
          <a:xfrm>
            <a:off x="187452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5" name="Shape 67"/>
          <p:cNvSpPr/>
          <p:nvPr/>
        </p:nvSpPr>
        <p:spPr>
          <a:xfrm>
            <a:off x="214884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6" name="Shape 68"/>
          <p:cNvSpPr/>
          <p:nvPr/>
        </p:nvSpPr>
        <p:spPr>
          <a:xfrm>
            <a:off x="242316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7" name="Shape 69"/>
          <p:cNvSpPr/>
          <p:nvPr/>
        </p:nvSpPr>
        <p:spPr>
          <a:xfrm>
            <a:off x="269748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8" name="Shape 70"/>
          <p:cNvSpPr/>
          <p:nvPr/>
        </p:nvSpPr>
        <p:spPr>
          <a:xfrm>
            <a:off x="297180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09" name="Shape 71"/>
          <p:cNvSpPr/>
          <p:nvPr/>
        </p:nvSpPr>
        <p:spPr>
          <a:xfrm>
            <a:off x="324612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10" name="Shape 72"/>
          <p:cNvSpPr/>
          <p:nvPr/>
        </p:nvSpPr>
        <p:spPr>
          <a:xfrm>
            <a:off x="3520440" y="2560320"/>
            <a:ext cx="128016" cy="128016"/>
          </a:xfrm>
          <a:prstGeom prst="ellipse">
            <a:avLst/>
          </a:prstGeom>
          <a:solidFill>
            <a:srgbClr val="C5CBD3"/>
          </a:solidFill>
          <a:ln/>
        </p:spPr>
      </p:sp>
      <p:sp>
        <p:nvSpPr>
          <p:cNvPr id="1111" name="Text 73"/>
          <p:cNvSpPr txBox="1"/>
          <p:nvPr/>
        </p:nvSpPr>
        <p:spPr>
          <a:xfrm>
            <a:off x="45720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4400" dirty="0"/>
          </a:p>
        </p:txBody>
      </p:sp>
      <p:sp>
        <p:nvSpPr>
          <p:cNvPr id="1112" name="Text 74"/>
          <p:cNvSpPr txBox="1"/>
          <p:nvPr/>
        </p:nvSpPr>
        <p:spPr>
          <a:xfrm>
            <a:off x="45720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284,807 swipes are fraud: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needles in a haystack.</a:t>
            </a:r>
            <a:endParaRPr lang="en-US" sz="1200" dirty="0"/>
          </a:p>
        </p:txBody>
      </p:sp>
      <p:sp>
        <p:nvSpPr>
          <p:cNvPr id="1113" name="Shape 75"/>
          <p:cNvSpPr/>
          <p:nvPr/>
        </p:nvSpPr>
        <p:spPr>
          <a:xfrm>
            <a:off x="4206240" y="1051560"/>
            <a:ext cx="219456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</p:sp>
      <p:sp>
        <p:nvSpPr>
          <p:cNvPr id="1114" name="Shape 76"/>
          <p:cNvSpPr/>
          <p:nvPr/>
        </p:nvSpPr>
        <p:spPr>
          <a:xfrm>
            <a:off x="4206240" y="1051560"/>
            <a:ext cx="64008" cy="164592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115" name="Shape 77"/>
          <p:cNvSpPr/>
          <p:nvPr/>
        </p:nvSpPr>
        <p:spPr>
          <a:xfrm>
            <a:off x="4457700" y="1211580"/>
            <a:ext cx="502920" cy="50292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16" name="Image 0" descr="/home/claude/ic/FaExclamation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372" y="1327252"/>
            <a:ext cx="271577" cy="271577"/>
          </a:xfrm>
          <a:prstGeom prst="rect">
            <a:avLst/>
          </a:prstGeom>
        </p:spPr>
      </p:pic>
      <p:sp>
        <p:nvSpPr>
          <p:cNvPr id="1117" name="Text 78"/>
          <p:cNvSpPr txBox="1"/>
          <p:nvPr/>
        </p:nvSpPr>
        <p:spPr>
          <a:xfrm>
            <a:off x="507492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rules miss new tricks</a:t>
            </a:r>
            <a:endParaRPr lang="en-US" sz="1200" dirty="0"/>
          </a:p>
        </p:txBody>
      </p:sp>
      <p:sp>
        <p:nvSpPr>
          <p:cNvPr id="1118" name="Text 79"/>
          <p:cNvSpPr txBox="1"/>
          <p:nvPr/>
        </p:nvSpPr>
        <p:spPr>
          <a:xfrm>
            <a:off x="4343400" y="18288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cannot keep up with new fraud patterns and flood analysts with false alarms.</a:t>
            </a:r>
            <a:endParaRPr lang="en-US" sz="1000" dirty="0"/>
          </a:p>
        </p:txBody>
      </p:sp>
      <p:sp>
        <p:nvSpPr>
          <p:cNvPr id="1119" name="Shape 80"/>
          <p:cNvSpPr/>
          <p:nvPr/>
        </p:nvSpPr>
        <p:spPr>
          <a:xfrm>
            <a:off x="6537960" y="1051560"/>
            <a:ext cx="219456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4BC9"/>
            </a:solidFill>
            <a:prstDash val="solid"/>
          </a:ln>
        </p:spPr>
      </p:sp>
      <p:sp>
        <p:nvSpPr>
          <p:cNvPr id="1120" name="Shape 81"/>
          <p:cNvSpPr/>
          <p:nvPr/>
        </p:nvSpPr>
        <p:spPr>
          <a:xfrm>
            <a:off x="6537960" y="1051560"/>
            <a:ext cx="64008" cy="1645920"/>
          </a:xfrm>
          <a:prstGeom prst="rect">
            <a:avLst/>
          </a:prstGeom>
          <a:solidFill>
            <a:srgbClr val="7B4BC9"/>
          </a:solidFill>
          <a:ln/>
        </p:spPr>
      </p:sp>
      <p:sp>
        <p:nvSpPr>
          <p:cNvPr id="1121" name="Shape 82"/>
          <p:cNvSpPr/>
          <p:nvPr/>
        </p:nvSpPr>
        <p:spPr>
          <a:xfrm>
            <a:off x="6789420" y="1211580"/>
            <a:ext cx="502920" cy="502920"/>
          </a:xfrm>
          <a:prstGeom prst="ellipse">
            <a:avLst/>
          </a:prstGeom>
          <a:solidFill>
            <a:srgbClr val="7B4BC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22" name="Image 1" descr="/home/claude/ic/FaBalance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092" y="1327252"/>
            <a:ext cx="271577" cy="271577"/>
          </a:xfrm>
          <a:prstGeom prst="rect">
            <a:avLst/>
          </a:prstGeom>
        </p:spPr>
      </p:pic>
      <p:sp>
        <p:nvSpPr>
          <p:cNvPr id="1123" name="Text 83"/>
          <p:cNvSpPr txBox="1"/>
          <p:nvPr/>
        </p:nvSpPr>
        <p:spPr>
          <a:xfrm>
            <a:off x="740664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lies</a:t>
            </a:r>
            <a:endParaRPr lang="en-US" sz="1200" dirty="0"/>
          </a:p>
        </p:txBody>
      </p:sp>
      <p:sp>
        <p:nvSpPr>
          <p:cNvPr id="1124" name="Text 84"/>
          <p:cNvSpPr txBox="1"/>
          <p:nvPr/>
        </p:nvSpPr>
        <p:spPr>
          <a:xfrm>
            <a:off x="6675120" y="18288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predicting "genuine" scores 99.8% accuracy yet catches zero fraud.</a:t>
            </a:r>
            <a:endParaRPr lang="en-US" sz="1000" dirty="0"/>
          </a:p>
        </p:txBody>
      </p:sp>
      <p:sp>
        <p:nvSpPr>
          <p:cNvPr id="1125" name="Shape 85"/>
          <p:cNvSpPr/>
          <p:nvPr/>
        </p:nvSpPr>
        <p:spPr>
          <a:xfrm>
            <a:off x="4206240" y="2834640"/>
            <a:ext cx="219456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E74C3C"/>
            </a:solidFill>
            <a:prstDash val="solid"/>
          </a:ln>
        </p:spPr>
      </p:sp>
      <p:sp>
        <p:nvSpPr>
          <p:cNvPr id="1126" name="Shape 86"/>
          <p:cNvSpPr/>
          <p:nvPr/>
        </p:nvSpPr>
        <p:spPr>
          <a:xfrm>
            <a:off x="4206240" y="2834640"/>
            <a:ext cx="64008" cy="1645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27" name="Shape 87"/>
          <p:cNvSpPr/>
          <p:nvPr/>
        </p:nvSpPr>
        <p:spPr>
          <a:xfrm>
            <a:off x="4457700" y="2994660"/>
            <a:ext cx="502920" cy="50292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28" name="Image 2" descr="/home/claude/ic/FaUserSecr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372" y="3110332"/>
            <a:ext cx="271577" cy="271577"/>
          </a:xfrm>
          <a:prstGeom prst="rect">
            <a:avLst/>
          </a:prstGeom>
        </p:spPr>
      </p:pic>
      <p:sp>
        <p:nvSpPr>
          <p:cNvPr id="1129" name="Text 88"/>
          <p:cNvSpPr txBox="1"/>
          <p:nvPr/>
        </p:nvSpPr>
        <p:spPr>
          <a:xfrm>
            <a:off x="507492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evolve</a:t>
            </a:r>
            <a:endParaRPr lang="en-US" sz="1200" dirty="0"/>
          </a:p>
        </p:txBody>
      </p:sp>
      <p:sp>
        <p:nvSpPr>
          <p:cNvPr id="1130" name="Text 89"/>
          <p:cNvSpPr txBox="1"/>
          <p:nvPr/>
        </p:nvSpPr>
        <p:spPr>
          <a:xfrm>
            <a:off x="4343400" y="36118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keeps changing (concept drift), so yesterday's model slowly decays.</a:t>
            </a:r>
            <a:endParaRPr lang="en-US" sz="1000" dirty="0"/>
          </a:p>
        </p:txBody>
      </p:sp>
      <p:sp>
        <p:nvSpPr>
          <p:cNvPr id="1131" name="Shape 90"/>
          <p:cNvSpPr/>
          <p:nvPr/>
        </p:nvSpPr>
        <p:spPr>
          <a:xfrm>
            <a:off x="6537960" y="2834640"/>
            <a:ext cx="219456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1132" name="Shape 91"/>
          <p:cNvSpPr/>
          <p:nvPr/>
        </p:nvSpPr>
        <p:spPr>
          <a:xfrm>
            <a:off x="6537960" y="2834640"/>
            <a:ext cx="64008" cy="164592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1133" name="Shape 92"/>
          <p:cNvSpPr/>
          <p:nvPr/>
        </p:nvSpPr>
        <p:spPr>
          <a:xfrm>
            <a:off x="6789420" y="2994660"/>
            <a:ext cx="502920" cy="502920"/>
          </a:xfrm>
          <a:prstGeom prst="ellipse">
            <a:avLst/>
          </a:prstGeom>
          <a:solidFill>
            <a:srgbClr val="3776A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34" name="Image 3" descr="/home/claude/ic/Fa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092" y="3110332"/>
            <a:ext cx="271577" cy="271577"/>
          </a:xfrm>
          <a:prstGeom prst="rect">
            <a:avLst/>
          </a:prstGeom>
        </p:spPr>
      </p:pic>
      <p:sp>
        <p:nvSpPr>
          <p:cNvPr id="1135" name="Text 93"/>
          <p:cNvSpPr txBox="1"/>
          <p:nvPr/>
        </p:nvSpPr>
        <p:spPr>
          <a:xfrm>
            <a:off x="740664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matter</a:t>
            </a:r>
            <a:endParaRPr lang="en-US" sz="1200" dirty="0"/>
          </a:p>
        </p:txBody>
      </p:sp>
      <p:sp>
        <p:nvSpPr>
          <p:cNvPr id="1136" name="Text 94"/>
          <p:cNvSpPr txBox="1"/>
          <p:nvPr/>
        </p:nvSpPr>
        <p:spPr>
          <a:xfrm>
            <a:off x="6675120" y="36118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needed at payment time, using anonymised, privacy-bound data.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FLOW DIAGRAM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Shape 0"/>
          <p:cNvSpPr/>
          <p:nvPr/>
        </p:nvSpPr>
        <p:spPr>
          <a:xfrm>
            <a:off x="667512" y="1261872"/>
            <a:ext cx="859536" cy="859536"/>
          </a:xfrm>
          <a:prstGeom prst="ellipse">
            <a:avLst/>
          </a:prstGeom>
          <a:ln w="15875">
            <a:solidFill>
              <a:srgbClr val="3776AB"/>
            </a:solidFill>
            <a:prstDash val="dash"/>
          </a:ln>
        </p:spPr>
      </p:sp>
      <p:sp>
        <p:nvSpPr>
          <p:cNvPr id="1138" name="Shape 1"/>
          <p:cNvSpPr/>
          <p:nvPr/>
        </p:nvSpPr>
        <p:spPr>
          <a:xfrm>
            <a:off x="731520" y="1325880"/>
            <a:ext cx="731520" cy="731520"/>
          </a:xfrm>
          <a:prstGeom prst="ellipse">
            <a:avLst/>
          </a:prstGeom>
          <a:solidFill>
            <a:srgbClr val="3776A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39" name="Image 0" descr="/home/claude/ic/Fa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70" y="1494130"/>
            <a:ext cx="395021" cy="395021"/>
          </a:xfrm>
          <a:prstGeom prst="rect">
            <a:avLst/>
          </a:prstGeom>
        </p:spPr>
      </p:pic>
      <p:sp>
        <p:nvSpPr>
          <p:cNvPr id="1140" name="Shape 2"/>
          <p:cNvSpPr/>
          <p:nvPr/>
        </p:nvSpPr>
        <p:spPr>
          <a:xfrm>
            <a:off x="685800" y="1280160"/>
            <a:ext cx="246888" cy="24688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1" name="Text 3"/>
          <p:cNvSpPr txBox="1"/>
          <p:nvPr/>
        </p:nvSpPr>
        <p:spPr>
          <a:xfrm>
            <a:off x="685800" y="12801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42" name="Text 4"/>
          <p:cNvSpPr txBox="1"/>
          <p:nvPr/>
        </p:nvSpPr>
        <p:spPr>
          <a:xfrm>
            <a:off x="18288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100" dirty="0"/>
          </a:p>
        </p:txBody>
      </p:sp>
      <p:sp>
        <p:nvSpPr>
          <p:cNvPr id="1143" name="Text 5"/>
          <p:cNvSpPr txBox="1"/>
          <p:nvPr/>
        </p:nvSpPr>
        <p:spPr>
          <a:xfrm>
            <a:off x="18288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 swipes</a:t>
            </a:r>
            <a:endParaRPr lang="en-US" sz="850" dirty="0"/>
          </a:p>
        </p:txBody>
      </p:sp>
      <p:sp>
        <p:nvSpPr>
          <p:cNvPr id="1144" name="Shape 6"/>
          <p:cNvSpPr/>
          <p:nvPr/>
        </p:nvSpPr>
        <p:spPr>
          <a:xfrm>
            <a:off x="1572768" y="1691640"/>
            <a:ext cx="786384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145" name="Shape 7"/>
          <p:cNvSpPr/>
          <p:nvPr/>
        </p:nvSpPr>
        <p:spPr>
          <a:xfrm>
            <a:off x="2404872" y="1261872"/>
            <a:ext cx="859536" cy="859536"/>
          </a:xfrm>
          <a:prstGeom prst="ellipse">
            <a:avLst/>
          </a:prstGeom>
          <a:ln w="15875">
            <a:solidFill>
              <a:srgbClr val="7B4BC9"/>
            </a:solidFill>
            <a:prstDash val="dash"/>
          </a:ln>
        </p:spPr>
      </p:sp>
      <p:sp>
        <p:nvSpPr>
          <p:cNvPr id="1146" name="Shape 8"/>
          <p:cNvSpPr/>
          <p:nvPr/>
        </p:nvSpPr>
        <p:spPr>
          <a:xfrm>
            <a:off x="2468880" y="1325880"/>
            <a:ext cx="731520" cy="731520"/>
          </a:xfrm>
          <a:prstGeom prst="ellipse">
            <a:avLst/>
          </a:prstGeom>
          <a:solidFill>
            <a:srgbClr val="7B4BC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47" name="Image 1" descr="/home/claude/ic/Fa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7130" y="1494130"/>
            <a:ext cx="395021" cy="395021"/>
          </a:xfrm>
          <a:prstGeom prst="rect">
            <a:avLst/>
          </a:prstGeom>
        </p:spPr>
      </p:pic>
      <p:sp>
        <p:nvSpPr>
          <p:cNvPr id="1148" name="Shape 9"/>
          <p:cNvSpPr/>
          <p:nvPr/>
        </p:nvSpPr>
        <p:spPr>
          <a:xfrm>
            <a:off x="2423160" y="1280160"/>
            <a:ext cx="246888" cy="24688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9" name="Text 10"/>
          <p:cNvSpPr txBox="1"/>
          <p:nvPr/>
        </p:nvSpPr>
        <p:spPr>
          <a:xfrm>
            <a:off x="2423160" y="12801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50" name="Text 11"/>
          <p:cNvSpPr txBox="1"/>
          <p:nvPr/>
        </p:nvSpPr>
        <p:spPr>
          <a:xfrm>
            <a:off x="192024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151" name="Text 12"/>
          <p:cNvSpPr txBox="1"/>
          <p:nvPr/>
        </p:nvSpPr>
        <p:spPr>
          <a:xfrm>
            <a:off x="192024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scale</a:t>
            </a:r>
            <a:endParaRPr lang="en-US" sz="850" dirty="0"/>
          </a:p>
        </p:txBody>
      </p:sp>
      <p:sp>
        <p:nvSpPr>
          <p:cNvPr id="1152" name="Shape 13"/>
          <p:cNvSpPr/>
          <p:nvPr/>
        </p:nvSpPr>
        <p:spPr>
          <a:xfrm>
            <a:off x="3310128" y="1691640"/>
            <a:ext cx="786384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153" name="Shape 14"/>
          <p:cNvSpPr/>
          <p:nvPr/>
        </p:nvSpPr>
        <p:spPr>
          <a:xfrm>
            <a:off x="4142232" y="1261872"/>
            <a:ext cx="859536" cy="859536"/>
          </a:xfrm>
          <a:prstGeom prst="ellipse">
            <a:avLst/>
          </a:prstGeom>
          <a:ln w="15875">
            <a:solidFill>
              <a:srgbClr val="27AE60"/>
            </a:solidFill>
            <a:prstDash val="dash"/>
          </a:ln>
        </p:spPr>
      </p:sp>
      <p:sp>
        <p:nvSpPr>
          <p:cNvPr id="1154" name="Shape 15"/>
          <p:cNvSpPr/>
          <p:nvPr/>
        </p:nvSpPr>
        <p:spPr>
          <a:xfrm>
            <a:off x="4206240" y="1325880"/>
            <a:ext cx="731520" cy="73152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55" name="Image 2" descr="/home/claude/ic/Fa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4490" y="1494130"/>
            <a:ext cx="395021" cy="395021"/>
          </a:xfrm>
          <a:prstGeom prst="rect">
            <a:avLst/>
          </a:prstGeom>
        </p:spPr>
      </p:pic>
      <p:sp>
        <p:nvSpPr>
          <p:cNvPr id="1156" name="Shape 16"/>
          <p:cNvSpPr/>
          <p:nvPr/>
        </p:nvSpPr>
        <p:spPr>
          <a:xfrm>
            <a:off x="4160520" y="1280160"/>
            <a:ext cx="246888" cy="24688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7" name="Text 17"/>
          <p:cNvSpPr txBox="1"/>
          <p:nvPr/>
        </p:nvSpPr>
        <p:spPr>
          <a:xfrm>
            <a:off x="4160520" y="12801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58" name="Text 18"/>
          <p:cNvSpPr txBox="1"/>
          <p:nvPr/>
        </p:nvSpPr>
        <p:spPr>
          <a:xfrm>
            <a:off x="365760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159" name="Text 19"/>
          <p:cNvSpPr txBox="1"/>
          <p:nvPr/>
        </p:nvSpPr>
        <p:spPr>
          <a:xfrm>
            <a:off x="365760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clues</a:t>
            </a:r>
            <a:endParaRPr lang="en-US" sz="850" dirty="0"/>
          </a:p>
        </p:txBody>
      </p:sp>
      <p:sp>
        <p:nvSpPr>
          <p:cNvPr id="1160" name="Shape 20"/>
          <p:cNvSpPr/>
          <p:nvPr/>
        </p:nvSpPr>
        <p:spPr>
          <a:xfrm>
            <a:off x="5047488" y="1691640"/>
            <a:ext cx="786384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161" name="Shape 21"/>
          <p:cNvSpPr/>
          <p:nvPr/>
        </p:nvSpPr>
        <p:spPr>
          <a:xfrm>
            <a:off x="5879592" y="1261872"/>
            <a:ext cx="859536" cy="859536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162" name="Shape 22"/>
          <p:cNvSpPr/>
          <p:nvPr/>
        </p:nvSpPr>
        <p:spPr>
          <a:xfrm>
            <a:off x="5943600" y="1325880"/>
            <a:ext cx="731520" cy="73152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63" name="Image 3" descr="/home/claude/ic/FaBalanceSca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1850" y="1494130"/>
            <a:ext cx="395021" cy="395021"/>
          </a:xfrm>
          <a:prstGeom prst="rect">
            <a:avLst/>
          </a:prstGeom>
        </p:spPr>
      </p:pic>
      <p:sp>
        <p:nvSpPr>
          <p:cNvPr id="1164" name="Shape 23"/>
          <p:cNvSpPr/>
          <p:nvPr/>
        </p:nvSpPr>
        <p:spPr>
          <a:xfrm>
            <a:off x="5897880" y="1280160"/>
            <a:ext cx="246888" cy="24688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5" name="Text 24"/>
          <p:cNvSpPr txBox="1"/>
          <p:nvPr/>
        </p:nvSpPr>
        <p:spPr>
          <a:xfrm>
            <a:off x="5897880" y="12801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66" name="Text 25"/>
          <p:cNvSpPr txBox="1"/>
          <p:nvPr/>
        </p:nvSpPr>
        <p:spPr>
          <a:xfrm>
            <a:off x="539496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00" dirty="0"/>
          </a:p>
        </p:txBody>
      </p:sp>
      <p:sp>
        <p:nvSpPr>
          <p:cNvPr id="1167" name="Text 26"/>
          <p:cNvSpPr txBox="1"/>
          <p:nvPr/>
        </p:nvSpPr>
        <p:spPr>
          <a:xfrm>
            <a:off x="539496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the classes</a:t>
            </a:r>
            <a:endParaRPr lang="en-US" sz="850" dirty="0"/>
          </a:p>
        </p:txBody>
      </p:sp>
      <p:sp>
        <p:nvSpPr>
          <p:cNvPr id="1168" name="Shape 27"/>
          <p:cNvSpPr/>
          <p:nvPr/>
        </p:nvSpPr>
        <p:spPr>
          <a:xfrm>
            <a:off x="6784848" y="1691640"/>
            <a:ext cx="786384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169" name="Shape 28"/>
          <p:cNvSpPr/>
          <p:nvPr/>
        </p:nvSpPr>
        <p:spPr>
          <a:xfrm>
            <a:off x="7616952" y="1261872"/>
            <a:ext cx="859536" cy="859536"/>
          </a:xfrm>
          <a:prstGeom prst="ellipse">
            <a:avLst/>
          </a:prstGeom>
          <a:ln w="15875">
            <a:solidFill>
              <a:srgbClr val="E74C3C"/>
            </a:solidFill>
            <a:prstDash val="dash"/>
          </a:ln>
        </p:spPr>
      </p:sp>
      <p:sp>
        <p:nvSpPr>
          <p:cNvPr id="1170" name="Shape 29"/>
          <p:cNvSpPr/>
          <p:nvPr/>
        </p:nvSpPr>
        <p:spPr>
          <a:xfrm>
            <a:off x="7680960" y="1325880"/>
            <a:ext cx="731520" cy="73152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71" name="Image 4" descr="/home/claude/ic/FaCodeBran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9210" y="1494130"/>
            <a:ext cx="395021" cy="395021"/>
          </a:xfrm>
          <a:prstGeom prst="rect">
            <a:avLst/>
          </a:prstGeom>
        </p:spPr>
      </p:pic>
      <p:sp>
        <p:nvSpPr>
          <p:cNvPr id="1172" name="Shape 30"/>
          <p:cNvSpPr/>
          <p:nvPr/>
        </p:nvSpPr>
        <p:spPr>
          <a:xfrm>
            <a:off x="7635240" y="1280160"/>
            <a:ext cx="246888" cy="24688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3" name="Text 31"/>
          <p:cNvSpPr txBox="1"/>
          <p:nvPr/>
        </p:nvSpPr>
        <p:spPr>
          <a:xfrm>
            <a:off x="7635240" y="12801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74" name="Text 32"/>
          <p:cNvSpPr txBox="1"/>
          <p:nvPr/>
        </p:nvSpPr>
        <p:spPr>
          <a:xfrm>
            <a:off x="713232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100" dirty="0"/>
          </a:p>
        </p:txBody>
      </p:sp>
      <p:sp>
        <p:nvSpPr>
          <p:cNvPr id="1175" name="Text 33"/>
          <p:cNvSpPr txBox="1"/>
          <p:nvPr/>
        </p:nvSpPr>
        <p:spPr>
          <a:xfrm>
            <a:off x="713232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850" dirty="0"/>
          </a:p>
        </p:txBody>
      </p:sp>
      <p:sp>
        <p:nvSpPr>
          <p:cNvPr id="1176" name="Shape 34"/>
          <p:cNvSpPr/>
          <p:nvPr/>
        </p:nvSpPr>
        <p:spPr>
          <a:xfrm>
            <a:off x="8412480" y="1691640"/>
            <a:ext cx="32004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1177" name="Shape 35"/>
          <p:cNvSpPr/>
          <p:nvPr/>
        </p:nvSpPr>
        <p:spPr>
          <a:xfrm>
            <a:off x="8732520" y="1691640"/>
            <a:ext cx="0" cy="192024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1178" name="Shape 36"/>
          <p:cNvSpPr/>
          <p:nvPr/>
        </p:nvSpPr>
        <p:spPr>
          <a:xfrm flipH="1">
            <a:off x="8412480" y="3611880"/>
            <a:ext cx="32004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179" name="Shape 37"/>
          <p:cNvSpPr/>
          <p:nvPr/>
        </p:nvSpPr>
        <p:spPr>
          <a:xfrm>
            <a:off x="7616952" y="3182112"/>
            <a:ext cx="859536" cy="859536"/>
          </a:xfrm>
          <a:prstGeom prst="ellipse">
            <a:avLst/>
          </a:prstGeom>
          <a:ln w="15875">
            <a:solidFill>
              <a:srgbClr val="3776AB"/>
            </a:solidFill>
            <a:prstDash val="dash"/>
          </a:ln>
        </p:spPr>
      </p:sp>
      <p:sp>
        <p:nvSpPr>
          <p:cNvPr id="1180" name="Shape 38"/>
          <p:cNvSpPr/>
          <p:nvPr/>
        </p:nvSpPr>
        <p:spPr>
          <a:xfrm>
            <a:off x="7680960" y="3246120"/>
            <a:ext cx="731520" cy="731520"/>
          </a:xfrm>
          <a:prstGeom prst="ellipse">
            <a:avLst/>
          </a:prstGeom>
          <a:solidFill>
            <a:srgbClr val="3776A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81" name="Image 5" descr="/home/claude/ic/Fa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9210" y="3414370"/>
            <a:ext cx="395021" cy="395021"/>
          </a:xfrm>
          <a:prstGeom prst="rect">
            <a:avLst/>
          </a:prstGeom>
        </p:spPr>
      </p:pic>
      <p:sp>
        <p:nvSpPr>
          <p:cNvPr id="1182" name="Shape 39"/>
          <p:cNvSpPr/>
          <p:nvPr/>
        </p:nvSpPr>
        <p:spPr>
          <a:xfrm>
            <a:off x="7635240" y="3200400"/>
            <a:ext cx="246888" cy="24688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3" name="Text 40"/>
          <p:cNvSpPr txBox="1"/>
          <p:nvPr/>
        </p:nvSpPr>
        <p:spPr>
          <a:xfrm>
            <a:off x="7635240" y="32004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84" name="Text 41"/>
          <p:cNvSpPr txBox="1"/>
          <p:nvPr/>
        </p:nvSpPr>
        <p:spPr>
          <a:xfrm>
            <a:off x="713232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1185" name="Text 42"/>
          <p:cNvSpPr txBox="1"/>
          <p:nvPr/>
        </p:nvSpPr>
        <p:spPr>
          <a:xfrm>
            <a:off x="713232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RF · XGBoost</a:t>
            </a:r>
            <a:endParaRPr lang="en-US" sz="850" dirty="0"/>
          </a:p>
        </p:txBody>
      </p:sp>
      <p:sp>
        <p:nvSpPr>
          <p:cNvPr id="1186" name="Shape 43"/>
          <p:cNvSpPr/>
          <p:nvPr/>
        </p:nvSpPr>
        <p:spPr>
          <a:xfrm flipH="1">
            <a:off x="6784848" y="3611880"/>
            <a:ext cx="786384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187" name="Shape 44"/>
          <p:cNvSpPr/>
          <p:nvPr/>
        </p:nvSpPr>
        <p:spPr>
          <a:xfrm>
            <a:off x="5879592" y="3182112"/>
            <a:ext cx="859536" cy="859536"/>
          </a:xfrm>
          <a:prstGeom prst="ellipse">
            <a:avLst/>
          </a:prstGeom>
          <a:ln w="15875">
            <a:solidFill>
              <a:srgbClr val="27AE60"/>
            </a:solidFill>
            <a:prstDash val="dash"/>
          </a:ln>
        </p:spPr>
      </p:sp>
      <p:sp>
        <p:nvSpPr>
          <p:cNvPr id="1188" name="Shape 45"/>
          <p:cNvSpPr/>
          <p:nvPr/>
        </p:nvSpPr>
        <p:spPr>
          <a:xfrm>
            <a:off x="5943600" y="3246120"/>
            <a:ext cx="731520" cy="73152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89" name="Image 6" descr="/home/claude/ic/FaChartB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1850" y="3414370"/>
            <a:ext cx="395021" cy="395021"/>
          </a:xfrm>
          <a:prstGeom prst="rect">
            <a:avLst/>
          </a:prstGeom>
        </p:spPr>
      </p:pic>
      <p:sp>
        <p:nvSpPr>
          <p:cNvPr id="1190" name="Shape 46"/>
          <p:cNvSpPr/>
          <p:nvPr/>
        </p:nvSpPr>
        <p:spPr>
          <a:xfrm>
            <a:off x="5897880" y="3200400"/>
            <a:ext cx="246888" cy="24688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1" name="Text 47"/>
          <p:cNvSpPr txBox="1"/>
          <p:nvPr/>
        </p:nvSpPr>
        <p:spPr>
          <a:xfrm>
            <a:off x="5897880" y="32004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92" name="Text 48"/>
          <p:cNvSpPr txBox="1"/>
          <p:nvPr/>
        </p:nvSpPr>
        <p:spPr>
          <a:xfrm>
            <a:off x="539496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193" name="Text 49"/>
          <p:cNvSpPr txBox="1"/>
          <p:nvPr/>
        </p:nvSpPr>
        <p:spPr>
          <a:xfrm>
            <a:off x="539496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F1 · PR-AUC</a:t>
            </a:r>
            <a:endParaRPr lang="en-US" sz="850" dirty="0"/>
          </a:p>
        </p:txBody>
      </p:sp>
      <p:sp>
        <p:nvSpPr>
          <p:cNvPr id="1194" name="Shape 50"/>
          <p:cNvSpPr/>
          <p:nvPr/>
        </p:nvSpPr>
        <p:spPr>
          <a:xfrm flipH="1">
            <a:off x="5047488" y="3611880"/>
            <a:ext cx="786384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195" name="Shape 51"/>
          <p:cNvSpPr/>
          <p:nvPr/>
        </p:nvSpPr>
        <p:spPr>
          <a:xfrm>
            <a:off x="4142232" y="3182112"/>
            <a:ext cx="859536" cy="859536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196" name="Shape 52"/>
          <p:cNvSpPr/>
          <p:nvPr/>
        </p:nvSpPr>
        <p:spPr>
          <a:xfrm>
            <a:off x="4206240" y="3246120"/>
            <a:ext cx="731520" cy="73152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97" name="Image 7" descr="/home/claude/ic/FaShieldA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4490" y="3414370"/>
            <a:ext cx="395021" cy="395021"/>
          </a:xfrm>
          <a:prstGeom prst="rect">
            <a:avLst/>
          </a:prstGeom>
        </p:spPr>
      </p:pic>
      <p:sp>
        <p:nvSpPr>
          <p:cNvPr id="1198" name="Shape 53"/>
          <p:cNvSpPr/>
          <p:nvPr/>
        </p:nvSpPr>
        <p:spPr>
          <a:xfrm>
            <a:off x="4160520" y="3200400"/>
            <a:ext cx="246888" cy="24688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9" name="Text 54"/>
          <p:cNvSpPr txBox="1"/>
          <p:nvPr/>
        </p:nvSpPr>
        <p:spPr>
          <a:xfrm>
            <a:off x="4160520" y="32004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200" name="Text 55"/>
          <p:cNvSpPr txBox="1"/>
          <p:nvPr/>
        </p:nvSpPr>
        <p:spPr>
          <a:xfrm>
            <a:off x="365760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201" name="Text 56"/>
          <p:cNvSpPr txBox="1"/>
          <p:nvPr/>
        </p:nvSpPr>
        <p:spPr>
          <a:xfrm>
            <a:off x="365760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or approve</a:t>
            </a:r>
            <a:endParaRPr lang="en-US" sz="850" dirty="0"/>
          </a:p>
        </p:txBody>
      </p:sp>
      <p:sp>
        <p:nvSpPr>
          <p:cNvPr id="1202" name="Shape 57"/>
          <p:cNvSpPr/>
          <p:nvPr/>
        </p:nvSpPr>
        <p:spPr>
          <a:xfrm>
            <a:off x="365760" y="315468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E8F6F7"/>
          </a:solidFill>
          <a:ln w="15875">
            <a:solidFill>
              <a:srgbClr val="0FA3B1"/>
            </a:solidFill>
            <a:prstDash val="dash"/>
          </a:ln>
        </p:spPr>
      </p:sp>
      <p:sp>
        <p:nvSpPr>
          <p:cNvPr id="1203" name="Shape 58"/>
          <p:cNvSpPr/>
          <p:nvPr/>
        </p:nvSpPr>
        <p:spPr>
          <a:xfrm>
            <a:off x="617220" y="3589020"/>
            <a:ext cx="502920" cy="502920"/>
          </a:xfrm>
          <a:prstGeom prst="ellipse">
            <a:avLst/>
          </a:prstGeom>
          <a:solidFill>
            <a:srgbClr val="0FA3B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04" name="Image 8" descr="/home/claude/ic/FaSyncAl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892" y="3704692"/>
            <a:ext cx="271577" cy="271577"/>
          </a:xfrm>
          <a:prstGeom prst="rect">
            <a:avLst/>
          </a:prstGeom>
        </p:spPr>
      </p:pic>
      <p:sp>
        <p:nvSpPr>
          <p:cNvPr id="1205" name="Text 59"/>
          <p:cNvSpPr txBox="1"/>
          <p:nvPr/>
        </p:nvSpPr>
        <p:spPr>
          <a:xfrm>
            <a:off x="128016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1206" name="Text 60"/>
          <p:cNvSpPr txBox="1"/>
          <p:nvPr/>
        </p:nvSpPr>
        <p:spPr>
          <a:xfrm>
            <a:off x="1280160" y="35844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Analyst-confirmed fraud labels flow back and the model is retrained, so it keeps up with concept drift.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</a:rPr>
              <a:t>SYSTEM ARCHITECTURE: LIFE OF A TRANSACTION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Shape 0"/>
          <p:cNvSpPr/>
          <p:nvPr/>
        </p:nvSpPr>
        <p:spPr>
          <a:xfrm>
            <a:off x="365760" y="914400"/>
            <a:ext cx="1920240" cy="457200"/>
          </a:xfrm>
          <a:prstGeom prst="roundRect">
            <a:avLst>
              <a:gd name="adj" fmla="val 30000"/>
            </a:avLst>
          </a:prstGeom>
          <a:solidFill>
            <a:srgbClr val="FFF4E0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08" name="Text 1"/>
          <p:cNvSpPr txBox="1"/>
          <p:nvPr/>
        </p:nvSpPr>
        <p:spPr>
          <a:xfrm>
            <a:off x="36576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"₹4,999 at 2 AM, abroad?"</a:t>
            </a:r>
            <a:endParaRPr lang="en-US" sz="1000" dirty="0"/>
          </a:p>
        </p:txBody>
      </p:sp>
      <p:sp>
        <p:nvSpPr>
          <p:cNvPr id="1209" name="Shape 2"/>
          <p:cNvSpPr/>
          <p:nvPr/>
        </p:nvSpPr>
        <p:spPr>
          <a:xfrm>
            <a:off x="438912" y="1673352"/>
            <a:ext cx="950976" cy="950976"/>
          </a:xfrm>
          <a:prstGeom prst="ellipse">
            <a:avLst/>
          </a:prstGeom>
          <a:ln w="15875">
            <a:solidFill>
              <a:srgbClr val="3776AB"/>
            </a:solidFill>
            <a:prstDash val="dash"/>
          </a:ln>
        </p:spPr>
      </p:sp>
      <p:sp>
        <p:nvSpPr>
          <p:cNvPr id="1210" name="Shape 3"/>
          <p:cNvSpPr/>
          <p:nvPr/>
        </p:nvSpPr>
        <p:spPr>
          <a:xfrm>
            <a:off x="502920" y="1737360"/>
            <a:ext cx="822960" cy="822960"/>
          </a:xfrm>
          <a:prstGeom prst="ellipse">
            <a:avLst/>
          </a:prstGeom>
          <a:solidFill>
            <a:srgbClr val="3776A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11" name="Image 0" descr="/home/claude/ic/Fa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1" y="1926641"/>
            <a:ext cx="444398" cy="444398"/>
          </a:xfrm>
          <a:prstGeom prst="rect">
            <a:avLst/>
          </a:prstGeom>
        </p:spPr>
      </p:pic>
      <p:sp>
        <p:nvSpPr>
          <p:cNvPr id="1212" name="Text 4"/>
          <p:cNvSpPr txBox="1"/>
          <p:nvPr/>
        </p:nvSpPr>
        <p:spPr>
          <a:xfrm>
            <a:off x="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</a:t>
            </a:r>
            <a:endParaRPr lang="en-US" sz="1100" dirty="0"/>
          </a:p>
        </p:txBody>
      </p:sp>
      <p:sp>
        <p:nvSpPr>
          <p:cNvPr id="1213" name="Text 5"/>
          <p:cNvSpPr txBox="1"/>
          <p:nvPr/>
        </p:nvSpPr>
        <p:spPr>
          <a:xfrm>
            <a:off x="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swipes the card</a:t>
            </a:r>
            <a:endParaRPr lang="en-US" sz="850" dirty="0"/>
          </a:p>
        </p:txBody>
      </p:sp>
      <p:sp>
        <p:nvSpPr>
          <p:cNvPr id="1214" name="Shape 6"/>
          <p:cNvSpPr/>
          <p:nvPr/>
        </p:nvSpPr>
        <p:spPr>
          <a:xfrm>
            <a:off x="1417320" y="2148840"/>
            <a:ext cx="73152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215" name="Shape 7"/>
          <p:cNvSpPr/>
          <p:nvPr/>
        </p:nvSpPr>
        <p:spPr>
          <a:xfrm>
            <a:off x="2221992" y="1673352"/>
            <a:ext cx="950976" cy="950976"/>
          </a:xfrm>
          <a:prstGeom prst="ellipse">
            <a:avLst/>
          </a:prstGeom>
          <a:ln w="15875">
            <a:solidFill>
              <a:srgbClr val="7B4BC9"/>
            </a:solidFill>
            <a:prstDash val="dash"/>
          </a:ln>
        </p:spPr>
      </p:sp>
      <p:sp>
        <p:nvSpPr>
          <p:cNvPr id="1216" name="Shape 8"/>
          <p:cNvSpPr/>
          <p:nvPr/>
        </p:nvSpPr>
        <p:spPr>
          <a:xfrm>
            <a:off x="2286000" y="1737360"/>
            <a:ext cx="822960" cy="822960"/>
          </a:xfrm>
          <a:prstGeom prst="ellipse">
            <a:avLst/>
          </a:prstGeom>
          <a:solidFill>
            <a:srgbClr val="7B4BC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17" name="Image 1" descr="/home/claude/ic/Fa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5281" y="1926641"/>
            <a:ext cx="444398" cy="444398"/>
          </a:xfrm>
          <a:prstGeom prst="rect">
            <a:avLst/>
          </a:prstGeom>
        </p:spPr>
      </p:pic>
      <p:sp>
        <p:nvSpPr>
          <p:cNvPr id="1218" name="Text 9"/>
          <p:cNvSpPr txBox="1"/>
          <p:nvPr/>
        </p:nvSpPr>
        <p:spPr>
          <a:xfrm>
            <a:off x="178308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100" dirty="0"/>
          </a:p>
        </p:txBody>
      </p:sp>
      <p:sp>
        <p:nvSpPr>
          <p:cNvPr id="1219" name="Text 10"/>
          <p:cNvSpPr txBox="1"/>
          <p:nvPr/>
        </p:nvSpPr>
        <p:spPr>
          <a:xfrm>
            <a:off x="178308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 real time</a:t>
            </a:r>
            <a:endParaRPr lang="en-US" sz="850" dirty="0"/>
          </a:p>
        </p:txBody>
      </p:sp>
      <p:sp>
        <p:nvSpPr>
          <p:cNvPr id="1220" name="Shape 11"/>
          <p:cNvSpPr/>
          <p:nvPr/>
        </p:nvSpPr>
        <p:spPr>
          <a:xfrm>
            <a:off x="3200400" y="2148840"/>
            <a:ext cx="6858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221" name="Text 12"/>
          <p:cNvSpPr txBox="1"/>
          <p:nvPr/>
        </p:nvSpPr>
        <p:spPr>
          <a:xfrm>
            <a:off x="315468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222" name="Shape 13"/>
          <p:cNvSpPr/>
          <p:nvPr/>
        </p:nvSpPr>
        <p:spPr>
          <a:xfrm>
            <a:off x="3867912" y="1444752"/>
            <a:ext cx="1408176" cy="1408176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223" name="Shape 14"/>
          <p:cNvSpPr/>
          <p:nvPr/>
        </p:nvSpPr>
        <p:spPr>
          <a:xfrm>
            <a:off x="3931920" y="1508760"/>
            <a:ext cx="1280160" cy="12801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24" name="Image 2" descr="/home/claude/ic/Fa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357" y="1803197"/>
            <a:ext cx="691286" cy="691286"/>
          </a:xfrm>
          <a:prstGeom prst="rect">
            <a:avLst/>
          </a:prstGeom>
        </p:spPr>
      </p:pic>
      <p:sp>
        <p:nvSpPr>
          <p:cNvPr id="1225" name="Text 15"/>
          <p:cNvSpPr txBox="1"/>
          <p:nvPr/>
        </p:nvSpPr>
        <p:spPr>
          <a:xfrm>
            <a:off x="365760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Fraud Engine</a:t>
            </a:r>
            <a:endParaRPr lang="en-US" sz="1100" dirty="0"/>
          </a:p>
        </p:txBody>
      </p:sp>
      <p:sp>
        <p:nvSpPr>
          <p:cNvPr id="1226" name="Text 16"/>
          <p:cNvSpPr txBox="1"/>
          <p:nvPr/>
        </p:nvSpPr>
        <p:spPr>
          <a:xfrm>
            <a:off x="365760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SMOTE · fraud score 0–1</a:t>
            </a:r>
            <a:endParaRPr lang="en-US" sz="850" dirty="0"/>
          </a:p>
        </p:txBody>
      </p:sp>
      <p:sp>
        <p:nvSpPr>
          <p:cNvPr id="1227" name="Shape 17"/>
          <p:cNvSpPr/>
          <p:nvPr/>
        </p:nvSpPr>
        <p:spPr>
          <a:xfrm flipV="1">
            <a:off x="5303520" y="1965960"/>
            <a:ext cx="868680" cy="41148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228" name="Shape 18"/>
          <p:cNvSpPr/>
          <p:nvPr/>
        </p:nvSpPr>
        <p:spPr>
          <a:xfrm>
            <a:off x="5303520" y="2331720"/>
            <a:ext cx="868680" cy="41148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229" name="Text 19"/>
          <p:cNvSpPr txBox="1"/>
          <p:nvPr/>
        </p:nvSpPr>
        <p:spPr>
          <a:xfrm>
            <a:off x="5349240" y="1371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0.5</a:t>
            </a:r>
            <a:endParaRPr lang="en-US" sz="850" dirty="0"/>
          </a:p>
        </p:txBody>
      </p:sp>
      <p:sp>
        <p:nvSpPr>
          <p:cNvPr id="1230" name="Text 20"/>
          <p:cNvSpPr txBox="1"/>
          <p:nvPr/>
        </p:nvSpPr>
        <p:spPr>
          <a:xfrm>
            <a:off x="5349240" y="2880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0.5</a:t>
            </a:r>
            <a:endParaRPr lang="en-US" sz="850" dirty="0"/>
          </a:p>
        </p:txBody>
      </p:sp>
      <p:sp>
        <p:nvSpPr>
          <p:cNvPr id="1231" name="Shape 21"/>
          <p:cNvSpPr/>
          <p:nvPr/>
        </p:nvSpPr>
        <p:spPr>
          <a:xfrm>
            <a:off x="6336792" y="1124712"/>
            <a:ext cx="768096" cy="768096"/>
          </a:xfrm>
          <a:prstGeom prst="ellipse">
            <a:avLst/>
          </a:prstGeom>
          <a:ln w="15875">
            <a:solidFill>
              <a:srgbClr val="27AE60"/>
            </a:solidFill>
            <a:prstDash val="dash"/>
          </a:ln>
        </p:spPr>
      </p:sp>
      <p:sp>
        <p:nvSpPr>
          <p:cNvPr id="1232" name="Shape 22"/>
          <p:cNvSpPr/>
          <p:nvPr/>
        </p:nvSpPr>
        <p:spPr>
          <a:xfrm>
            <a:off x="6400800" y="1188720"/>
            <a:ext cx="640080" cy="64008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33" name="Image 3" descr="/home/claude/ic/Fa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018" y="1335938"/>
            <a:ext cx="345643" cy="345643"/>
          </a:xfrm>
          <a:prstGeom prst="rect">
            <a:avLst/>
          </a:prstGeom>
        </p:spPr>
      </p:pic>
      <p:sp>
        <p:nvSpPr>
          <p:cNvPr id="1234" name="Text 23"/>
          <p:cNvSpPr txBox="1"/>
          <p:nvPr/>
        </p:nvSpPr>
        <p:spPr>
          <a:xfrm>
            <a:off x="580644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235" name="Text 24"/>
          <p:cNvSpPr txBox="1"/>
          <p:nvPr/>
        </p:nvSpPr>
        <p:spPr>
          <a:xfrm>
            <a:off x="580644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goes through</a:t>
            </a:r>
            <a:endParaRPr lang="en-US" sz="850" dirty="0"/>
          </a:p>
        </p:txBody>
      </p:sp>
      <p:sp>
        <p:nvSpPr>
          <p:cNvPr id="1236" name="Shape 25"/>
          <p:cNvSpPr/>
          <p:nvPr/>
        </p:nvSpPr>
        <p:spPr>
          <a:xfrm>
            <a:off x="6336792" y="2313432"/>
            <a:ext cx="768096" cy="768096"/>
          </a:xfrm>
          <a:prstGeom prst="ellipse">
            <a:avLst/>
          </a:prstGeom>
          <a:ln w="15875">
            <a:solidFill>
              <a:srgbClr val="E74C3C"/>
            </a:solidFill>
            <a:prstDash val="dash"/>
          </a:ln>
        </p:spPr>
      </p:sp>
      <p:sp>
        <p:nvSpPr>
          <p:cNvPr id="1237" name="Shape 26"/>
          <p:cNvSpPr/>
          <p:nvPr/>
        </p:nvSpPr>
        <p:spPr>
          <a:xfrm>
            <a:off x="6400800" y="2377440"/>
            <a:ext cx="640080" cy="64008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38" name="Image 4" descr="/home/claude/ic/FaB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8018" y="2524658"/>
            <a:ext cx="345643" cy="345643"/>
          </a:xfrm>
          <a:prstGeom prst="rect">
            <a:avLst/>
          </a:prstGeom>
        </p:spPr>
      </p:pic>
      <p:sp>
        <p:nvSpPr>
          <p:cNvPr id="1239" name="Text 27"/>
          <p:cNvSpPr txBox="1"/>
          <p:nvPr/>
        </p:nvSpPr>
        <p:spPr>
          <a:xfrm>
            <a:off x="580644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1240" name="Text 28"/>
          <p:cNvSpPr txBox="1"/>
          <p:nvPr/>
        </p:nvSpPr>
        <p:spPr>
          <a:xfrm>
            <a:off x="580644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 to customer</a:t>
            </a:r>
            <a:endParaRPr lang="en-US" sz="850" dirty="0"/>
          </a:p>
        </p:txBody>
      </p:sp>
      <p:sp>
        <p:nvSpPr>
          <p:cNvPr id="1241" name="Shape 29"/>
          <p:cNvSpPr/>
          <p:nvPr/>
        </p:nvSpPr>
        <p:spPr>
          <a:xfrm>
            <a:off x="7132320" y="2697480"/>
            <a:ext cx="77724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242" name="Shape 30"/>
          <p:cNvSpPr/>
          <p:nvPr/>
        </p:nvSpPr>
        <p:spPr>
          <a:xfrm>
            <a:off x="7891272" y="2313432"/>
            <a:ext cx="768096" cy="768096"/>
          </a:xfrm>
          <a:prstGeom prst="ellipse">
            <a:avLst/>
          </a:prstGeom>
          <a:ln w="15875">
            <a:solidFill>
              <a:srgbClr val="0FA3B1"/>
            </a:solidFill>
            <a:prstDash val="dash"/>
          </a:ln>
        </p:spPr>
      </p:sp>
      <p:sp>
        <p:nvSpPr>
          <p:cNvPr id="1243" name="Shape 31"/>
          <p:cNvSpPr/>
          <p:nvPr/>
        </p:nvSpPr>
        <p:spPr>
          <a:xfrm>
            <a:off x="7955280" y="2377440"/>
            <a:ext cx="640080" cy="640080"/>
          </a:xfrm>
          <a:prstGeom prst="ellipse">
            <a:avLst/>
          </a:prstGeom>
          <a:solidFill>
            <a:srgbClr val="0FA3B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44" name="Image 5" descr="/home/claude/ic/FaUser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2498" y="2524658"/>
            <a:ext cx="345643" cy="345643"/>
          </a:xfrm>
          <a:prstGeom prst="rect">
            <a:avLst/>
          </a:prstGeom>
        </p:spPr>
      </p:pic>
      <p:sp>
        <p:nvSpPr>
          <p:cNvPr id="1245" name="Text 32"/>
          <p:cNvSpPr txBox="1"/>
          <p:nvPr/>
        </p:nvSpPr>
        <p:spPr>
          <a:xfrm>
            <a:off x="736092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</a:t>
            </a:r>
            <a:endParaRPr lang="en-US" sz="1100" dirty="0"/>
          </a:p>
        </p:txBody>
      </p:sp>
      <p:sp>
        <p:nvSpPr>
          <p:cNvPr id="1246" name="Text 33"/>
          <p:cNvSpPr txBox="1"/>
          <p:nvPr/>
        </p:nvSpPr>
        <p:spPr>
          <a:xfrm>
            <a:off x="736092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case</a:t>
            </a:r>
            <a:endParaRPr lang="en-US" sz="850" dirty="0"/>
          </a:p>
        </p:txBody>
      </p:sp>
      <p:sp>
        <p:nvSpPr>
          <p:cNvPr id="1247" name="Shape 34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E8F6F7"/>
          </a:solidFill>
          <a:ln w="15875">
            <a:solidFill>
              <a:srgbClr val="0FA3B1"/>
            </a:solidFill>
            <a:prstDash val="dash"/>
          </a:ln>
        </p:spPr>
      </p:sp>
      <p:sp>
        <p:nvSpPr>
          <p:cNvPr id="1248" name="Shape 35"/>
          <p:cNvSpPr/>
          <p:nvPr/>
        </p:nvSpPr>
        <p:spPr>
          <a:xfrm>
            <a:off x="553212" y="3927348"/>
            <a:ext cx="502920" cy="502920"/>
          </a:xfrm>
          <a:prstGeom prst="ellipse">
            <a:avLst/>
          </a:prstGeom>
          <a:solidFill>
            <a:srgbClr val="1F2A4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49" name="Image 6" descr="/home/claude/ic/FaData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884" y="4043020"/>
            <a:ext cx="271577" cy="271577"/>
          </a:xfrm>
          <a:prstGeom prst="rect">
            <a:avLst/>
          </a:prstGeom>
        </p:spPr>
      </p:pic>
      <p:sp>
        <p:nvSpPr>
          <p:cNvPr id="1250" name="Text 36"/>
          <p:cNvSpPr txBox="1"/>
          <p:nvPr/>
        </p:nvSpPr>
        <p:spPr>
          <a:xfrm>
            <a:off x="1143000" y="3886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store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 registry</a:t>
            </a:r>
            <a:endParaRPr lang="en-US" sz="1050" dirty="0"/>
          </a:p>
        </p:txBody>
      </p:sp>
      <p:sp>
        <p:nvSpPr>
          <p:cNvPr id="1251" name="Shape 37"/>
          <p:cNvSpPr/>
          <p:nvPr/>
        </p:nvSpPr>
        <p:spPr>
          <a:xfrm>
            <a:off x="2967228" y="3927348"/>
            <a:ext cx="502920" cy="50292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52" name="Image 7" descr="/home/claude/ic/FaSyncA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82900" y="4043020"/>
            <a:ext cx="271577" cy="271577"/>
          </a:xfrm>
          <a:prstGeom prst="rect">
            <a:avLst/>
          </a:prstGeom>
        </p:spPr>
      </p:pic>
      <p:sp>
        <p:nvSpPr>
          <p:cNvPr id="1253" name="Text 38"/>
          <p:cNvSpPr txBox="1"/>
          <p:nvPr/>
        </p:nvSpPr>
        <p:spPr>
          <a:xfrm>
            <a:off x="3611880" y="3840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the analyst's verdict (fraud / genuine) becomes a new label, the model is retrained, and tomorrow's decisions get smarter.</a:t>
            </a:r>
            <a:endParaRPr lang="en-US" sz="1050" dirty="0"/>
          </a:p>
        </p:txBody>
      </p:sp>
      <p:sp>
        <p:nvSpPr>
          <p:cNvPr id="1254" name="Shape 39"/>
          <p:cNvSpPr/>
          <p:nvPr/>
        </p:nvSpPr>
        <p:spPr>
          <a:xfrm flipV="1">
            <a:off x="4572000" y="3474720"/>
            <a:ext cx="0" cy="301752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LITERATURE SURVEY (1/3)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Author,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and 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/ key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Ghosh Dastidar, Caelen &amp; Granitzer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methods for credit card fraud detection: a survey. IEEE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ML approaches and open challenges in card fraud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on methods and challenges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Farabi et al.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Enhancing credit card fraud detection: a comprehensive study of ML algorithms and performance evaluation. J. Business &amp; Management Studies, 6(3)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several ML algorithms on card fraud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for our algorithm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Majumder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fraud detection for credit card using XGBoost &amp; SMOTE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combined with SMOTE oversampling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to our XGBoost + SMOTE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Du, Lv, Wang &amp; Guo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novel method for detecting credit card fraud problems. PLOS ONE, 19(3), e0294537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 + probabilistic XGBoost with SMOTE and CGAN; about 2% higher accuracy than KNN and 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 value of resampling and threshold 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 Baisholan et al.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FraudX AI: an interpretable ML framework for credit card fraud detection on imbalanced datasets. Computers, 14(4), 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ensemble; 95% recall with 97% AUC-PR on the European card 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Recall-first evaluation and explainability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56" name="Text 0"/>
          <p:cNvSpPr txBox="1"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Authors, years and venues are taken from the published records; please verify each against the original paper before submission.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LITERATURE SURVEY (2/3)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Author,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and 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/ key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 Albalawi &amp; Dardouri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Enhancing credit card fraud detection using traditional and deep learning models with class imbalance mitigation. Front. Artif. Intell.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traditional and deep learning models with imbalance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SMOTE and class weighting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 Khalid et al.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Enhancing credit card fraud detection: an ensemble machine learning approach. Big Data Cogn. Comput., 8(1),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ML approach to fraud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comparing ensemble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 Fanai &amp; Abbasimehr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novel combined approach based on deep autoencoder and deep classifiers for credit card fraud detection. Expert Syst. Appl., 217, 119562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autoencoder features passed to deep classifiers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alternative to tree ensembles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[9] Yousefimehr &amp; Ghatee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distribution-preserving method for resampling combined with LightGBM-LSTM for sequence-wise fraud detection. Expert Syst. Appl., 262, 125661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Resampling plus LightGBM-LSTM on transaction sequences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Idea: use spending history as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 Udayakumar et al.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Fraud Net: a deep learning approach for cyber security and financial fraud detection and classification. J. Internet Serv. Inf. Secur., 13(3), 138–157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model for fraud detection and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comparison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LITERATURE SURVEY (3/3)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Author,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and 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/ key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[11] Tang &amp; Liang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 fraud detection based on federated graph learning. Expert Syst. Appl., 256, 124979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graph learning: institutions train together without sharing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Privacy-preserving future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[12] Abdul Salam et al.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learning model for credit card fraud detection with data balancing techniques. Neural Comput. Appl., 36, 6231–6256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learning combined with data balancing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Balancing methods in a privacy 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[13] Charizanos, Demirhan &amp; İçen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online fuzzy fraud detection framework for credit card transactions. Expert Syst. Appl., 252, 124127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logistic regression for real-time use; copes with changing fraud and imbalance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retraining and drift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[14] Lebichot et al.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of catastrophic forgetting in continual credit card fraud detection. Expert Syst. Appl., 249, 123445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 model forgetting when updated continually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our retraining feedback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[15] Verma &amp; Dhar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 fraud detection: a deep learning approach. arXiv:2409.13406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model for card fraud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</a:rPr>
              <a:t>RESEARCH METHODOLOGY (ALGORITHM EXPLANATION)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Shape 0"/>
          <p:cNvSpPr/>
          <p:nvPr/>
        </p:nvSpPr>
        <p:spPr>
          <a:xfrm>
            <a:off x="457200" y="1188720"/>
            <a:ext cx="192024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4BC9"/>
            </a:solidFill>
            <a:prstDash val="solid"/>
          </a:ln>
        </p:spPr>
      </p:sp>
      <p:sp>
        <p:nvSpPr>
          <p:cNvPr id="1260" name="Shape 1"/>
          <p:cNvSpPr/>
          <p:nvPr/>
        </p:nvSpPr>
        <p:spPr>
          <a:xfrm>
            <a:off x="1069848" y="841248"/>
            <a:ext cx="694944" cy="694944"/>
          </a:xfrm>
          <a:prstGeom prst="ellipse">
            <a:avLst/>
          </a:prstGeom>
          <a:ln w="15875">
            <a:solidFill>
              <a:srgbClr val="7B4BC9"/>
            </a:solidFill>
            <a:prstDash val="dash"/>
          </a:ln>
        </p:spPr>
      </p:sp>
      <p:sp>
        <p:nvSpPr>
          <p:cNvPr id="1261" name="Shape 2"/>
          <p:cNvSpPr/>
          <p:nvPr/>
        </p:nvSpPr>
        <p:spPr>
          <a:xfrm>
            <a:off x="1133856" y="905256"/>
            <a:ext cx="566928" cy="566928"/>
          </a:xfrm>
          <a:prstGeom prst="ellipse">
            <a:avLst/>
          </a:prstGeom>
          <a:solidFill>
            <a:srgbClr val="7B4BC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62" name="Image 0" descr="/home/claude/ic/FaBalance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249" y="1035649"/>
            <a:ext cx="306141" cy="306141"/>
          </a:xfrm>
          <a:prstGeom prst="rect">
            <a:avLst/>
          </a:prstGeom>
        </p:spPr>
      </p:pic>
      <p:sp>
        <p:nvSpPr>
          <p:cNvPr id="1263" name="Text 3"/>
          <p:cNvSpPr txBox="1"/>
          <p:nvPr/>
        </p:nvSpPr>
        <p:spPr>
          <a:xfrm>
            <a:off x="457200" y="1517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400" dirty="0"/>
          </a:p>
        </p:txBody>
      </p:sp>
      <p:sp>
        <p:nvSpPr>
          <p:cNvPr id="1264" name="Text 4"/>
          <p:cNvSpPr txBox="1"/>
          <p:nvPr/>
        </p:nvSpPr>
        <p:spPr>
          <a:xfrm>
            <a:off x="54864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"Photocopy with a twist: new look-alike frauds"</a:t>
            </a:r>
            <a:endParaRPr lang="en-US" sz="900" dirty="0"/>
          </a:p>
        </p:txBody>
      </p:sp>
      <p:sp>
        <p:nvSpPr>
          <p:cNvPr id="1265" name="Shape 5"/>
          <p:cNvSpPr/>
          <p:nvPr/>
        </p:nvSpPr>
        <p:spPr>
          <a:xfrm>
            <a:off x="548640" y="2194560"/>
            <a:ext cx="1737360" cy="914400"/>
          </a:xfrm>
          <a:prstGeom prst="rect">
            <a:avLst/>
          </a:prstGeom>
          <a:solidFill>
            <a:srgbClr val="EDE6F8"/>
          </a:solidFill>
          <a:ln/>
        </p:spPr>
      </p:sp>
      <p:sp>
        <p:nvSpPr>
          <p:cNvPr id="1266" name="Text 6"/>
          <p:cNvSpPr txBox="1"/>
          <p:nvPr/>
        </p:nvSpPr>
        <p:spPr>
          <a:xfrm>
            <a:off x="530352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synthetic fraud samples between nearby real frauds, balancing the classes.</a:t>
            </a:r>
            <a:endParaRPr lang="en-US" sz="1000" dirty="0"/>
          </a:p>
        </p:txBody>
      </p:sp>
      <p:sp>
        <p:nvSpPr>
          <p:cNvPr id="1267" name="Shape 7"/>
          <p:cNvSpPr/>
          <p:nvPr/>
        </p:nvSpPr>
        <p:spPr>
          <a:xfrm>
            <a:off x="685800" y="2304288"/>
            <a:ext cx="118872" cy="118872"/>
          </a:xfrm>
          <a:prstGeom prst="ellipse">
            <a:avLst/>
          </a:prstGeom>
          <a:solidFill>
            <a:srgbClr val="95A5A6"/>
          </a:solidFill>
          <a:ln/>
        </p:spPr>
      </p:sp>
      <p:sp>
        <p:nvSpPr>
          <p:cNvPr id="1268" name="Shape 8"/>
          <p:cNvSpPr/>
          <p:nvPr/>
        </p:nvSpPr>
        <p:spPr>
          <a:xfrm>
            <a:off x="1005840" y="2926080"/>
            <a:ext cx="118872" cy="118872"/>
          </a:xfrm>
          <a:prstGeom prst="ellipse">
            <a:avLst/>
          </a:prstGeom>
          <a:solidFill>
            <a:srgbClr val="95A5A6"/>
          </a:solidFill>
          <a:ln/>
        </p:spPr>
      </p:sp>
      <p:sp>
        <p:nvSpPr>
          <p:cNvPr id="1269" name="Shape 9"/>
          <p:cNvSpPr/>
          <p:nvPr/>
        </p:nvSpPr>
        <p:spPr>
          <a:xfrm>
            <a:off x="2011680" y="2377440"/>
            <a:ext cx="118872" cy="118872"/>
          </a:xfrm>
          <a:prstGeom prst="ellipse">
            <a:avLst/>
          </a:prstGeom>
          <a:solidFill>
            <a:srgbClr val="95A5A6"/>
          </a:solidFill>
          <a:ln/>
        </p:spPr>
      </p:sp>
      <p:sp>
        <p:nvSpPr>
          <p:cNvPr id="1270" name="Shape 10"/>
          <p:cNvSpPr/>
          <p:nvPr/>
        </p:nvSpPr>
        <p:spPr>
          <a:xfrm>
            <a:off x="1920240" y="2880360"/>
            <a:ext cx="118872" cy="118872"/>
          </a:xfrm>
          <a:prstGeom prst="ellipse">
            <a:avLst/>
          </a:prstGeom>
          <a:solidFill>
            <a:srgbClr val="95A5A6"/>
          </a:solidFill>
          <a:ln/>
        </p:spPr>
      </p:sp>
      <p:sp>
        <p:nvSpPr>
          <p:cNvPr id="1271" name="Shape 11"/>
          <p:cNvSpPr/>
          <p:nvPr/>
        </p:nvSpPr>
        <p:spPr>
          <a:xfrm>
            <a:off x="731520" y="2651760"/>
            <a:ext cx="118872" cy="118872"/>
          </a:xfrm>
          <a:prstGeom prst="ellipse">
            <a:avLst/>
          </a:prstGeom>
          <a:solidFill>
            <a:srgbClr val="95A5A6"/>
          </a:solidFill>
          <a:ln/>
        </p:spPr>
      </p:sp>
      <p:sp>
        <p:nvSpPr>
          <p:cNvPr id="1272" name="Shape 12"/>
          <p:cNvSpPr/>
          <p:nvPr/>
        </p:nvSpPr>
        <p:spPr>
          <a:xfrm>
            <a:off x="1463040" y="2267712"/>
            <a:ext cx="118872" cy="118872"/>
          </a:xfrm>
          <a:prstGeom prst="ellipse">
            <a:avLst/>
          </a:prstGeom>
          <a:solidFill>
            <a:srgbClr val="95A5A6"/>
          </a:solidFill>
          <a:ln/>
        </p:spPr>
      </p:sp>
      <p:sp>
        <p:nvSpPr>
          <p:cNvPr id="1273" name="Shape 13"/>
          <p:cNvSpPr/>
          <p:nvPr/>
        </p:nvSpPr>
        <p:spPr>
          <a:xfrm>
            <a:off x="960120" y="251460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74" name="Shape 14"/>
          <p:cNvSpPr/>
          <p:nvPr/>
        </p:nvSpPr>
        <p:spPr>
          <a:xfrm>
            <a:off x="1691640" y="2670048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75" name="Shape 15"/>
          <p:cNvSpPr/>
          <p:nvPr/>
        </p:nvSpPr>
        <p:spPr>
          <a:xfrm>
            <a:off x="1143000" y="2651760"/>
            <a:ext cx="548640" cy="137160"/>
          </a:xfrm>
          <a:prstGeom prst="line">
            <a:avLst/>
          </a:prstGeom>
          <a:noFill/>
          <a:ln w="12700">
            <a:solidFill>
              <a:srgbClr val="7B4BC9"/>
            </a:solidFill>
            <a:prstDash val="dash"/>
          </a:ln>
        </p:spPr>
      </p:sp>
      <p:sp>
        <p:nvSpPr>
          <p:cNvPr id="1276" name="Shape 16"/>
          <p:cNvSpPr/>
          <p:nvPr/>
        </p:nvSpPr>
        <p:spPr>
          <a:xfrm>
            <a:off x="1325880" y="260604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4BC9"/>
            </a:solidFill>
            <a:prstDash val="dash"/>
          </a:ln>
        </p:spPr>
      </p:sp>
      <p:sp>
        <p:nvSpPr>
          <p:cNvPr id="1277" name="Shape 17"/>
          <p:cNvSpPr/>
          <p:nvPr/>
        </p:nvSpPr>
        <p:spPr>
          <a:xfrm>
            <a:off x="2560320" y="1188720"/>
            <a:ext cx="192024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278" name="Shape 18"/>
          <p:cNvSpPr/>
          <p:nvPr/>
        </p:nvSpPr>
        <p:spPr>
          <a:xfrm>
            <a:off x="3172968" y="841248"/>
            <a:ext cx="694944" cy="694944"/>
          </a:xfrm>
          <a:prstGeom prst="ellipse">
            <a:avLst/>
          </a:prstGeom>
          <a:ln w="15875">
            <a:solidFill>
              <a:srgbClr val="27AE60"/>
            </a:solidFill>
            <a:prstDash val="dash"/>
          </a:ln>
        </p:spPr>
      </p:sp>
      <p:sp>
        <p:nvSpPr>
          <p:cNvPr id="1279" name="Shape 19"/>
          <p:cNvSpPr/>
          <p:nvPr/>
        </p:nvSpPr>
        <p:spPr>
          <a:xfrm>
            <a:off x="3236976" y="905256"/>
            <a:ext cx="566928" cy="566928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80" name="Image 1" descr="/home/claude/ic/Fa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7369" y="1035649"/>
            <a:ext cx="306141" cy="306141"/>
          </a:xfrm>
          <a:prstGeom prst="rect">
            <a:avLst/>
          </a:prstGeom>
        </p:spPr>
      </p:pic>
      <p:sp>
        <p:nvSpPr>
          <p:cNvPr id="1281" name="Text 20"/>
          <p:cNvSpPr txBox="1"/>
          <p:nvPr/>
        </p:nvSpPr>
        <p:spPr>
          <a:xfrm>
            <a:off x="2560320" y="1517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282" name="Text 21"/>
          <p:cNvSpPr txBox="1"/>
          <p:nvPr/>
        </p:nvSpPr>
        <p:spPr>
          <a:xfrm>
            <a:off x="265176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jury of trees, majority wins"</a:t>
            </a:r>
            <a:endParaRPr lang="en-US" sz="900" dirty="0"/>
          </a:p>
        </p:txBody>
      </p:sp>
      <p:sp>
        <p:nvSpPr>
          <p:cNvPr id="1283" name="Shape 22"/>
          <p:cNvSpPr/>
          <p:nvPr/>
        </p:nvSpPr>
        <p:spPr>
          <a:xfrm>
            <a:off x="2651760" y="2194560"/>
            <a:ext cx="1737360" cy="914400"/>
          </a:xfrm>
          <a:prstGeom prst="rect">
            <a:avLst/>
          </a:prstGeom>
          <a:solidFill>
            <a:srgbClr val="E3F5EA"/>
          </a:solidFill>
          <a:ln/>
        </p:spPr>
      </p:sp>
      <p:sp>
        <p:nvSpPr>
          <p:cNvPr id="1284" name="Text 23"/>
          <p:cNvSpPr txBox="1"/>
          <p:nvPr/>
        </p:nvSpPr>
        <p:spPr>
          <a:xfrm>
            <a:off x="2633472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trees see random subsets of data; the vote cuts variance and overfitting.</a:t>
            </a:r>
            <a:endParaRPr lang="en-US" sz="1000" dirty="0"/>
          </a:p>
        </p:txBody>
      </p:sp>
      <p:sp>
        <p:nvSpPr>
          <p:cNvPr id="1285" name="Shape 24"/>
          <p:cNvSpPr/>
          <p:nvPr/>
        </p:nvSpPr>
        <p:spPr>
          <a:xfrm>
            <a:off x="2834640" y="224028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1286" name="Text 25"/>
          <p:cNvSpPr txBox="1"/>
          <p:nvPr/>
        </p:nvSpPr>
        <p:spPr>
          <a:xfrm>
            <a:off x="2834640" y="2240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1287" name="Shape 26"/>
          <p:cNvSpPr/>
          <p:nvPr/>
        </p:nvSpPr>
        <p:spPr>
          <a:xfrm>
            <a:off x="2944368" y="2542032"/>
            <a:ext cx="182880" cy="201168"/>
          </a:xfrm>
          <a:prstGeom prst="downArrow">
            <a:avLst/>
          </a:prstGeom>
          <a:solidFill>
            <a:srgbClr val="1E8449"/>
          </a:solidFill>
          <a:ln/>
        </p:spPr>
      </p:sp>
      <p:sp>
        <p:nvSpPr>
          <p:cNvPr id="1288" name="Shape 27"/>
          <p:cNvSpPr/>
          <p:nvPr/>
        </p:nvSpPr>
        <p:spPr>
          <a:xfrm>
            <a:off x="3291840" y="224028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1289" name="Text 28"/>
          <p:cNvSpPr txBox="1"/>
          <p:nvPr/>
        </p:nvSpPr>
        <p:spPr>
          <a:xfrm>
            <a:off x="3291840" y="2240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1290" name="Shape 29"/>
          <p:cNvSpPr/>
          <p:nvPr/>
        </p:nvSpPr>
        <p:spPr>
          <a:xfrm>
            <a:off x="3401568" y="2542032"/>
            <a:ext cx="182880" cy="201168"/>
          </a:xfrm>
          <a:prstGeom prst="downArrow">
            <a:avLst/>
          </a:prstGeom>
          <a:solidFill>
            <a:srgbClr val="1E8449"/>
          </a:solidFill>
          <a:ln/>
        </p:spPr>
      </p:sp>
      <p:sp>
        <p:nvSpPr>
          <p:cNvPr id="1291" name="Shape 30"/>
          <p:cNvSpPr/>
          <p:nvPr/>
        </p:nvSpPr>
        <p:spPr>
          <a:xfrm>
            <a:off x="3749040" y="224028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1292" name="Text 31"/>
          <p:cNvSpPr txBox="1"/>
          <p:nvPr/>
        </p:nvSpPr>
        <p:spPr>
          <a:xfrm>
            <a:off x="3749040" y="2240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1293" name="Shape 32"/>
          <p:cNvSpPr/>
          <p:nvPr/>
        </p:nvSpPr>
        <p:spPr>
          <a:xfrm>
            <a:off x="3858768" y="2542032"/>
            <a:ext cx="182880" cy="201168"/>
          </a:xfrm>
          <a:prstGeom prst="downArrow">
            <a:avLst/>
          </a:prstGeom>
          <a:solidFill>
            <a:srgbClr val="1E8449"/>
          </a:solidFill>
          <a:ln/>
        </p:spPr>
      </p:sp>
      <p:sp>
        <p:nvSpPr>
          <p:cNvPr id="1294" name="Shape 33"/>
          <p:cNvSpPr/>
          <p:nvPr/>
        </p:nvSpPr>
        <p:spPr>
          <a:xfrm>
            <a:off x="2834640" y="2779776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E8449"/>
          </a:solidFill>
          <a:ln/>
        </p:spPr>
      </p:sp>
      <p:sp>
        <p:nvSpPr>
          <p:cNvPr id="1295" name="Text 34"/>
          <p:cNvSpPr txBox="1"/>
          <p:nvPr/>
        </p:nvSpPr>
        <p:spPr>
          <a:xfrm>
            <a:off x="2834640" y="2779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  <a:endParaRPr lang="en-US" sz="1000" dirty="0"/>
          </a:p>
        </p:txBody>
      </p:sp>
      <p:sp>
        <p:nvSpPr>
          <p:cNvPr id="1296" name="Shape 35"/>
          <p:cNvSpPr/>
          <p:nvPr/>
        </p:nvSpPr>
        <p:spPr>
          <a:xfrm>
            <a:off x="4663440" y="1188720"/>
            <a:ext cx="192024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1297" name="Shape 36"/>
          <p:cNvSpPr/>
          <p:nvPr/>
        </p:nvSpPr>
        <p:spPr>
          <a:xfrm>
            <a:off x="5276088" y="841248"/>
            <a:ext cx="694944" cy="694944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298" name="Shape 37"/>
          <p:cNvSpPr/>
          <p:nvPr/>
        </p:nvSpPr>
        <p:spPr>
          <a:xfrm>
            <a:off x="5340096" y="905256"/>
            <a:ext cx="566928" cy="566928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99" name="Image 2" descr="/home/claude/ic/Fa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489" y="1035649"/>
            <a:ext cx="306141" cy="306141"/>
          </a:xfrm>
          <a:prstGeom prst="rect">
            <a:avLst/>
          </a:prstGeom>
        </p:spPr>
      </p:pic>
      <p:sp>
        <p:nvSpPr>
          <p:cNvPr id="1300" name="Text 38"/>
          <p:cNvSpPr txBox="1"/>
          <p:nvPr/>
        </p:nvSpPr>
        <p:spPr>
          <a:xfrm>
            <a:off x="4663440" y="1517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301" name="Text 39"/>
          <p:cNvSpPr txBox="1"/>
          <p:nvPr/>
        </p:nvSpPr>
        <p:spPr>
          <a:xfrm>
            <a:off x="475488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student who learns from every mistake"</a:t>
            </a:r>
            <a:endParaRPr lang="en-US" sz="900" dirty="0"/>
          </a:p>
        </p:txBody>
      </p:sp>
      <p:sp>
        <p:nvSpPr>
          <p:cNvPr id="1302" name="Shape 40"/>
          <p:cNvSpPr/>
          <p:nvPr/>
        </p:nvSpPr>
        <p:spPr>
          <a:xfrm>
            <a:off x="4754880" y="2194560"/>
            <a:ext cx="1737360" cy="914400"/>
          </a:xfrm>
          <a:prstGeom prst="rect">
            <a:avLst/>
          </a:prstGeom>
          <a:solidFill>
            <a:srgbClr val="FDEBD6"/>
          </a:solidFill>
          <a:ln/>
        </p:spPr>
      </p:sp>
      <p:sp>
        <p:nvSpPr>
          <p:cNvPr id="1303" name="Text 41"/>
          <p:cNvSpPr txBox="1"/>
          <p:nvPr/>
        </p:nvSpPr>
        <p:spPr>
          <a:xfrm>
            <a:off x="4736592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are added one by one, each fixing the errors of the last (gradient boosting).</a:t>
            </a:r>
            <a:endParaRPr lang="en-US" sz="1000" dirty="0"/>
          </a:p>
        </p:txBody>
      </p:sp>
      <p:sp>
        <p:nvSpPr>
          <p:cNvPr id="1304" name="Shape 42"/>
          <p:cNvSpPr/>
          <p:nvPr/>
        </p:nvSpPr>
        <p:spPr>
          <a:xfrm>
            <a:off x="4937760" y="2377440"/>
            <a:ext cx="274320" cy="685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05" name="Shape 43"/>
          <p:cNvSpPr/>
          <p:nvPr/>
        </p:nvSpPr>
        <p:spPr>
          <a:xfrm>
            <a:off x="5321808" y="2587752"/>
            <a:ext cx="274320" cy="4754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06" name="Shape 44"/>
          <p:cNvSpPr/>
          <p:nvPr/>
        </p:nvSpPr>
        <p:spPr>
          <a:xfrm>
            <a:off x="5705856" y="2761488"/>
            <a:ext cx="274320" cy="301752"/>
          </a:xfrm>
          <a:prstGeom prst="rect">
            <a:avLst/>
          </a:prstGeom>
          <a:solidFill>
            <a:srgbClr val="F5B041"/>
          </a:solidFill>
          <a:ln/>
        </p:spPr>
      </p:sp>
      <p:sp>
        <p:nvSpPr>
          <p:cNvPr id="1307" name="Shape 45"/>
          <p:cNvSpPr/>
          <p:nvPr/>
        </p:nvSpPr>
        <p:spPr>
          <a:xfrm>
            <a:off x="6089904" y="2935224"/>
            <a:ext cx="274320" cy="128016"/>
          </a:xfrm>
          <a:prstGeom prst="rect">
            <a:avLst/>
          </a:prstGeom>
          <a:solidFill>
            <a:srgbClr val="F8C471"/>
          </a:solidFill>
          <a:ln/>
        </p:spPr>
      </p:sp>
      <p:sp>
        <p:nvSpPr>
          <p:cNvPr id="1308" name="Text 46"/>
          <p:cNvSpPr txBox="1"/>
          <p:nvPr/>
        </p:nvSpPr>
        <p:spPr>
          <a:xfrm>
            <a:off x="566928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shrinks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</a:t>
            </a:r>
            <a:endParaRPr lang="en-US" sz="800" dirty="0"/>
          </a:p>
        </p:txBody>
      </p:sp>
      <p:sp>
        <p:nvSpPr>
          <p:cNvPr id="1309" name="Shape 47"/>
          <p:cNvSpPr/>
          <p:nvPr/>
        </p:nvSpPr>
        <p:spPr>
          <a:xfrm>
            <a:off x="6766560" y="1188720"/>
            <a:ext cx="192024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A3B1"/>
            </a:solidFill>
            <a:prstDash val="solid"/>
          </a:ln>
        </p:spPr>
      </p:sp>
      <p:sp>
        <p:nvSpPr>
          <p:cNvPr id="1310" name="Shape 48"/>
          <p:cNvSpPr/>
          <p:nvPr/>
        </p:nvSpPr>
        <p:spPr>
          <a:xfrm>
            <a:off x="7379208" y="841248"/>
            <a:ext cx="694944" cy="694944"/>
          </a:xfrm>
          <a:prstGeom prst="ellipse">
            <a:avLst/>
          </a:prstGeom>
          <a:ln w="15875">
            <a:solidFill>
              <a:srgbClr val="0FA3B1"/>
            </a:solidFill>
            <a:prstDash val="dash"/>
          </a:ln>
        </p:spPr>
      </p:sp>
      <p:sp>
        <p:nvSpPr>
          <p:cNvPr id="1311" name="Shape 49"/>
          <p:cNvSpPr/>
          <p:nvPr/>
        </p:nvSpPr>
        <p:spPr>
          <a:xfrm>
            <a:off x="7443216" y="905256"/>
            <a:ext cx="566928" cy="566928"/>
          </a:xfrm>
          <a:prstGeom prst="ellipse">
            <a:avLst/>
          </a:prstGeom>
          <a:solidFill>
            <a:srgbClr val="0FA3B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312" name="Image 3" descr="/home/claude/ic/Fa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3609" y="1035649"/>
            <a:ext cx="306141" cy="306141"/>
          </a:xfrm>
          <a:prstGeom prst="rect">
            <a:avLst/>
          </a:prstGeom>
        </p:spPr>
      </p:pic>
      <p:sp>
        <p:nvSpPr>
          <p:cNvPr id="1313" name="Text 50"/>
          <p:cNvSpPr txBox="1"/>
          <p:nvPr/>
        </p:nvSpPr>
        <p:spPr>
          <a:xfrm>
            <a:off x="6766560" y="1517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314" name="Text 51"/>
          <p:cNvSpPr txBox="1"/>
          <p:nvPr/>
        </p:nvSpPr>
        <p:spPr>
          <a:xfrm>
            <a:off x="685800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"Spot the odd one out in the crowd"</a:t>
            </a:r>
            <a:endParaRPr lang="en-US" sz="900" dirty="0"/>
          </a:p>
        </p:txBody>
      </p:sp>
      <p:sp>
        <p:nvSpPr>
          <p:cNvPr id="1315" name="Shape 52"/>
          <p:cNvSpPr/>
          <p:nvPr/>
        </p:nvSpPr>
        <p:spPr>
          <a:xfrm>
            <a:off x="6858000" y="2194560"/>
            <a:ext cx="1737360" cy="914400"/>
          </a:xfrm>
          <a:prstGeom prst="rect">
            <a:avLst/>
          </a:prstGeom>
          <a:solidFill>
            <a:srgbClr val="DDF3F5"/>
          </a:solidFill>
          <a:ln/>
        </p:spPr>
      </p:sp>
      <p:sp>
        <p:nvSpPr>
          <p:cNvPr id="1316" name="Text 53"/>
          <p:cNvSpPr txBox="1"/>
          <p:nvPr/>
        </p:nvSpPr>
        <p:spPr>
          <a:xfrm>
            <a:off x="6839712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isolate rare points fast; short paths mean likely anomalies.</a:t>
            </a:r>
            <a:endParaRPr lang="en-US" sz="1000" dirty="0"/>
          </a:p>
        </p:txBody>
      </p:sp>
      <p:sp>
        <p:nvSpPr>
          <p:cNvPr id="1317" name="Shape 54"/>
          <p:cNvSpPr/>
          <p:nvPr/>
        </p:nvSpPr>
        <p:spPr>
          <a:xfrm>
            <a:off x="7315200" y="2606040"/>
            <a:ext cx="100584" cy="100584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318" name="Shape 55"/>
          <p:cNvSpPr/>
          <p:nvPr/>
        </p:nvSpPr>
        <p:spPr>
          <a:xfrm>
            <a:off x="7452360" y="2743200"/>
            <a:ext cx="100584" cy="100584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319" name="Shape 56"/>
          <p:cNvSpPr/>
          <p:nvPr/>
        </p:nvSpPr>
        <p:spPr>
          <a:xfrm>
            <a:off x="7223760" y="2788920"/>
            <a:ext cx="100584" cy="100584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320" name="Shape 57"/>
          <p:cNvSpPr/>
          <p:nvPr/>
        </p:nvSpPr>
        <p:spPr>
          <a:xfrm>
            <a:off x="7498080" y="2514600"/>
            <a:ext cx="100584" cy="100584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321" name="Shape 58"/>
          <p:cNvSpPr/>
          <p:nvPr/>
        </p:nvSpPr>
        <p:spPr>
          <a:xfrm>
            <a:off x="7360920" y="2907792"/>
            <a:ext cx="100584" cy="100584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322" name="Shape 59"/>
          <p:cNvSpPr/>
          <p:nvPr/>
        </p:nvSpPr>
        <p:spPr>
          <a:xfrm>
            <a:off x="7178040" y="2560320"/>
            <a:ext cx="100584" cy="100584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323" name="Shape 60"/>
          <p:cNvSpPr/>
          <p:nvPr/>
        </p:nvSpPr>
        <p:spPr>
          <a:xfrm>
            <a:off x="7040880" y="2377440"/>
            <a:ext cx="640080" cy="640080"/>
          </a:xfrm>
          <a:prstGeom prst="ellipse">
            <a:avLst/>
          </a:prstGeom>
          <a:ln w="15240">
            <a:solidFill>
              <a:srgbClr val="0FA3B1"/>
            </a:solidFill>
            <a:prstDash val="dash"/>
          </a:ln>
        </p:spPr>
      </p:sp>
      <p:sp>
        <p:nvSpPr>
          <p:cNvPr id="1324" name="Shape 61"/>
          <p:cNvSpPr/>
          <p:nvPr/>
        </p:nvSpPr>
        <p:spPr>
          <a:xfrm>
            <a:off x="8321040" y="237744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25" name="Text 62"/>
          <p:cNvSpPr txBox="1"/>
          <p:nvPr/>
        </p:nvSpPr>
        <p:spPr>
          <a:xfrm>
            <a:off x="7955280" y="2578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800" dirty="0"/>
          </a:p>
        </p:txBody>
      </p:sp>
      <p:sp>
        <p:nvSpPr>
          <p:cNvPr id="1326" name="Text 63"/>
          <p:cNvSpPr txBox="1"/>
          <p:nvPr/>
        </p:nvSpPr>
        <p:spPr>
          <a:xfrm>
            <a:off x="365760" y="3931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1327" name="Shape 64"/>
          <p:cNvSpPr/>
          <p:nvPr/>
        </p:nvSpPr>
        <p:spPr>
          <a:xfrm>
            <a:off x="365760" y="41788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7B4BC9"/>
          </a:solidFill>
          <a:ln/>
        </p:spPr>
      </p:sp>
      <p:sp>
        <p:nvSpPr>
          <p:cNvPr id="1328" name="Text 65"/>
          <p:cNvSpPr txBox="1"/>
          <p:nvPr/>
        </p:nvSpPr>
        <p:spPr>
          <a:xfrm>
            <a:off x="365760" y="4178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29" name="Shape 66"/>
          <p:cNvSpPr/>
          <p:nvPr/>
        </p:nvSpPr>
        <p:spPr>
          <a:xfrm>
            <a:off x="1792224" y="41788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330" name="Text 67"/>
          <p:cNvSpPr txBox="1"/>
          <p:nvPr/>
        </p:nvSpPr>
        <p:spPr>
          <a:xfrm>
            <a:off x="1792224" y="4178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31" name="Shape 68"/>
          <p:cNvSpPr/>
          <p:nvPr/>
        </p:nvSpPr>
        <p:spPr>
          <a:xfrm>
            <a:off x="3218688" y="41788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332" name="Text 69"/>
          <p:cNvSpPr txBox="1"/>
          <p:nvPr/>
        </p:nvSpPr>
        <p:spPr>
          <a:xfrm>
            <a:off x="3218688" y="4178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333" name="Shape 70"/>
          <p:cNvSpPr/>
          <p:nvPr/>
        </p:nvSpPr>
        <p:spPr>
          <a:xfrm>
            <a:off x="4645152" y="41788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/>
        </p:spPr>
      </p:sp>
      <p:sp>
        <p:nvSpPr>
          <p:cNvPr id="1334" name="Text 71"/>
          <p:cNvSpPr txBox="1"/>
          <p:nvPr/>
        </p:nvSpPr>
        <p:spPr>
          <a:xfrm>
            <a:off x="4645152" y="4178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335" name="Shape 72"/>
          <p:cNvSpPr/>
          <p:nvPr/>
        </p:nvSpPr>
        <p:spPr>
          <a:xfrm>
            <a:off x="6071616" y="41788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1336" name="Text 73"/>
          <p:cNvSpPr txBox="1"/>
          <p:nvPr/>
        </p:nvSpPr>
        <p:spPr>
          <a:xfrm>
            <a:off x="6071616" y="4178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1337" name="Shape 74"/>
          <p:cNvSpPr/>
          <p:nvPr/>
        </p:nvSpPr>
        <p:spPr>
          <a:xfrm>
            <a:off x="7498080" y="41788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/>
        </p:spPr>
      </p:sp>
      <p:sp>
        <p:nvSpPr>
          <p:cNvPr id="1338" name="Text 75"/>
          <p:cNvSpPr txBox="1"/>
          <p:nvPr/>
        </p:nvSpPr>
        <p:spPr>
          <a:xfrm>
            <a:off x="7498080" y="4178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COMPARE ALGORITHMS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Text 0"/>
          <p:cNvSpPr txBox="1"/>
          <p:nvPr/>
        </p:nvSpPr>
        <p:spPr>
          <a:xfrm>
            <a:off x="36576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scores (replace with our results)</a:t>
            </a:r>
            <a:endParaRPr lang="en-US" sz="1100" dirty="0"/>
          </a:p>
        </p:txBody>
      </p:sp>
      <p:sp>
        <p:nvSpPr>
          <p:cNvPr id="1340" name="Shape 1"/>
          <p:cNvSpPr/>
          <p:nvPr/>
        </p:nvSpPr>
        <p:spPr>
          <a:xfrm>
            <a:off x="822960" y="3749040"/>
            <a:ext cx="4846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41" name="Text 2"/>
          <p:cNvSpPr txBox="1"/>
          <p:nvPr/>
        </p:nvSpPr>
        <p:spPr>
          <a:xfrm>
            <a:off x="365760" y="3657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900" dirty="0"/>
          </a:p>
        </p:txBody>
      </p:sp>
      <p:sp>
        <p:nvSpPr>
          <p:cNvPr id="1342" name="Shape 3"/>
          <p:cNvSpPr/>
          <p:nvPr/>
        </p:nvSpPr>
        <p:spPr>
          <a:xfrm>
            <a:off x="822960" y="3177540"/>
            <a:ext cx="4846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43" name="Text 4"/>
          <p:cNvSpPr txBox="1"/>
          <p:nvPr/>
        </p:nvSpPr>
        <p:spPr>
          <a:xfrm>
            <a:off x="365760" y="30861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900" dirty="0"/>
          </a:p>
        </p:txBody>
      </p:sp>
      <p:sp>
        <p:nvSpPr>
          <p:cNvPr id="1344" name="Shape 5"/>
          <p:cNvSpPr/>
          <p:nvPr/>
        </p:nvSpPr>
        <p:spPr>
          <a:xfrm>
            <a:off x="822960" y="2606040"/>
            <a:ext cx="4846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45" name="Text 6"/>
          <p:cNvSpPr txBox="1"/>
          <p:nvPr/>
        </p:nvSpPr>
        <p:spPr>
          <a:xfrm>
            <a:off x="365760" y="2514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00" dirty="0"/>
          </a:p>
        </p:txBody>
      </p:sp>
      <p:sp>
        <p:nvSpPr>
          <p:cNvPr id="1346" name="Shape 7"/>
          <p:cNvSpPr/>
          <p:nvPr/>
        </p:nvSpPr>
        <p:spPr>
          <a:xfrm>
            <a:off x="822960" y="2034540"/>
            <a:ext cx="4846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47" name="Text 8"/>
          <p:cNvSpPr txBox="1"/>
          <p:nvPr/>
        </p:nvSpPr>
        <p:spPr>
          <a:xfrm>
            <a:off x="365760" y="19431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900" dirty="0"/>
          </a:p>
        </p:txBody>
      </p:sp>
      <p:sp>
        <p:nvSpPr>
          <p:cNvPr id="1348" name="Shape 9"/>
          <p:cNvSpPr/>
          <p:nvPr/>
        </p:nvSpPr>
        <p:spPr>
          <a:xfrm>
            <a:off x="822960" y="1463040"/>
            <a:ext cx="4846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49" name="Text 10"/>
          <p:cNvSpPr txBox="1"/>
          <p:nvPr/>
        </p:nvSpPr>
        <p:spPr>
          <a:xfrm>
            <a:off x="365760" y="1371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00" dirty="0"/>
          </a:p>
        </p:txBody>
      </p:sp>
      <p:sp>
        <p:nvSpPr>
          <p:cNvPr id="1350" name="Text 11"/>
          <p:cNvSpPr txBox="1"/>
          <p:nvPr/>
        </p:nvSpPr>
        <p:spPr>
          <a:xfrm>
            <a:off x="822960" y="3794760"/>
            <a:ext cx="1211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351" name="Shape 12"/>
          <p:cNvSpPr/>
          <p:nvPr/>
        </p:nvSpPr>
        <p:spPr>
          <a:xfrm>
            <a:off x="1005840" y="2354580"/>
            <a:ext cx="246888" cy="13944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52" name="Text 13"/>
          <p:cNvSpPr txBox="1"/>
          <p:nvPr/>
        </p:nvSpPr>
        <p:spPr>
          <a:xfrm>
            <a:off x="1005840" y="217170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800" dirty="0"/>
          </a:p>
        </p:txBody>
      </p:sp>
      <p:sp>
        <p:nvSpPr>
          <p:cNvPr id="1353" name="Shape 14"/>
          <p:cNvSpPr/>
          <p:nvPr/>
        </p:nvSpPr>
        <p:spPr>
          <a:xfrm>
            <a:off x="1280160" y="1737360"/>
            <a:ext cx="246888" cy="2011680"/>
          </a:xfrm>
          <a:prstGeom prst="rect">
            <a:avLst/>
          </a:prstGeom>
          <a:solidFill>
            <a:srgbClr val="7B4BC9"/>
          </a:solidFill>
          <a:ln/>
        </p:spPr>
      </p:sp>
      <p:sp>
        <p:nvSpPr>
          <p:cNvPr id="1354" name="Text 15"/>
          <p:cNvSpPr txBox="1"/>
          <p:nvPr/>
        </p:nvSpPr>
        <p:spPr>
          <a:xfrm>
            <a:off x="1280160" y="155448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800" dirty="0"/>
          </a:p>
        </p:txBody>
      </p:sp>
      <p:sp>
        <p:nvSpPr>
          <p:cNvPr id="1355" name="Shape 16"/>
          <p:cNvSpPr/>
          <p:nvPr/>
        </p:nvSpPr>
        <p:spPr>
          <a:xfrm>
            <a:off x="1554480" y="2148840"/>
            <a:ext cx="246888" cy="160020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356" name="Text 17"/>
          <p:cNvSpPr txBox="1"/>
          <p:nvPr/>
        </p:nvSpPr>
        <p:spPr>
          <a:xfrm>
            <a:off x="1554480" y="196596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800" dirty="0"/>
          </a:p>
        </p:txBody>
      </p:sp>
      <p:sp>
        <p:nvSpPr>
          <p:cNvPr id="1357" name="Text 18"/>
          <p:cNvSpPr txBox="1"/>
          <p:nvPr/>
        </p:nvSpPr>
        <p:spPr>
          <a:xfrm>
            <a:off x="2034540" y="3794760"/>
            <a:ext cx="1211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358" name="Shape 19"/>
          <p:cNvSpPr/>
          <p:nvPr/>
        </p:nvSpPr>
        <p:spPr>
          <a:xfrm>
            <a:off x="2217420" y="1920240"/>
            <a:ext cx="246888" cy="1828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59" name="Text 20"/>
          <p:cNvSpPr txBox="1"/>
          <p:nvPr/>
        </p:nvSpPr>
        <p:spPr>
          <a:xfrm>
            <a:off x="2217420" y="173736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800" dirty="0"/>
          </a:p>
        </p:txBody>
      </p:sp>
      <p:sp>
        <p:nvSpPr>
          <p:cNvPr id="1360" name="Shape 21"/>
          <p:cNvSpPr/>
          <p:nvPr/>
        </p:nvSpPr>
        <p:spPr>
          <a:xfrm>
            <a:off x="2491740" y="1600200"/>
            <a:ext cx="246888" cy="2148840"/>
          </a:xfrm>
          <a:prstGeom prst="rect">
            <a:avLst/>
          </a:prstGeom>
          <a:solidFill>
            <a:srgbClr val="7B4BC9"/>
          </a:solidFill>
          <a:ln/>
        </p:spPr>
      </p:sp>
      <p:sp>
        <p:nvSpPr>
          <p:cNvPr id="1361" name="Text 22"/>
          <p:cNvSpPr txBox="1"/>
          <p:nvPr/>
        </p:nvSpPr>
        <p:spPr>
          <a:xfrm>
            <a:off x="2491740" y="14173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800" dirty="0"/>
          </a:p>
        </p:txBody>
      </p:sp>
      <p:sp>
        <p:nvSpPr>
          <p:cNvPr id="1362" name="Shape 23"/>
          <p:cNvSpPr/>
          <p:nvPr/>
        </p:nvSpPr>
        <p:spPr>
          <a:xfrm>
            <a:off x="2766060" y="1874520"/>
            <a:ext cx="246888" cy="187452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363" name="Text 24"/>
          <p:cNvSpPr txBox="1"/>
          <p:nvPr/>
        </p:nvSpPr>
        <p:spPr>
          <a:xfrm>
            <a:off x="2766060" y="16916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800" dirty="0"/>
          </a:p>
        </p:txBody>
      </p:sp>
      <p:sp>
        <p:nvSpPr>
          <p:cNvPr id="1364" name="Text 25"/>
          <p:cNvSpPr txBox="1"/>
          <p:nvPr/>
        </p:nvSpPr>
        <p:spPr>
          <a:xfrm>
            <a:off x="3246120" y="3794760"/>
            <a:ext cx="1211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365" name="Shape 26"/>
          <p:cNvSpPr/>
          <p:nvPr/>
        </p:nvSpPr>
        <p:spPr>
          <a:xfrm>
            <a:off x="3429000" y="1828800"/>
            <a:ext cx="246888" cy="1920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66" name="Text 27"/>
          <p:cNvSpPr txBox="1"/>
          <p:nvPr/>
        </p:nvSpPr>
        <p:spPr>
          <a:xfrm>
            <a:off x="3429000" y="164592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800" dirty="0"/>
          </a:p>
        </p:txBody>
      </p:sp>
      <p:sp>
        <p:nvSpPr>
          <p:cNvPr id="1367" name="Shape 28"/>
          <p:cNvSpPr/>
          <p:nvPr/>
        </p:nvSpPr>
        <p:spPr>
          <a:xfrm>
            <a:off x="3703320" y="1623060"/>
            <a:ext cx="246888" cy="2125980"/>
          </a:xfrm>
          <a:prstGeom prst="rect">
            <a:avLst/>
          </a:prstGeom>
          <a:solidFill>
            <a:srgbClr val="7B4BC9"/>
          </a:solidFill>
          <a:ln/>
        </p:spPr>
      </p:sp>
      <p:sp>
        <p:nvSpPr>
          <p:cNvPr id="1368" name="Text 29"/>
          <p:cNvSpPr txBox="1"/>
          <p:nvPr/>
        </p:nvSpPr>
        <p:spPr>
          <a:xfrm>
            <a:off x="3703320" y="144018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800" dirty="0"/>
          </a:p>
        </p:txBody>
      </p:sp>
      <p:sp>
        <p:nvSpPr>
          <p:cNvPr id="1369" name="Shape 30"/>
          <p:cNvSpPr/>
          <p:nvPr/>
        </p:nvSpPr>
        <p:spPr>
          <a:xfrm>
            <a:off x="3977640" y="1760220"/>
            <a:ext cx="246888" cy="198882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370" name="Text 31"/>
          <p:cNvSpPr txBox="1"/>
          <p:nvPr/>
        </p:nvSpPr>
        <p:spPr>
          <a:xfrm>
            <a:off x="3977640" y="157734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800" dirty="0"/>
          </a:p>
        </p:txBody>
      </p:sp>
      <p:sp>
        <p:nvSpPr>
          <p:cNvPr id="1371" name="Text 32"/>
          <p:cNvSpPr txBox="1"/>
          <p:nvPr/>
        </p:nvSpPr>
        <p:spPr>
          <a:xfrm>
            <a:off x="4457700" y="3794760"/>
            <a:ext cx="1211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00" dirty="0"/>
          </a:p>
        </p:txBody>
      </p:sp>
      <p:sp>
        <p:nvSpPr>
          <p:cNvPr id="1372" name="Shape 33"/>
          <p:cNvSpPr/>
          <p:nvPr/>
        </p:nvSpPr>
        <p:spPr>
          <a:xfrm>
            <a:off x="4640580" y="2148840"/>
            <a:ext cx="246888" cy="1600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73" name="Text 34"/>
          <p:cNvSpPr txBox="1"/>
          <p:nvPr/>
        </p:nvSpPr>
        <p:spPr>
          <a:xfrm>
            <a:off x="4640580" y="196596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800" dirty="0"/>
          </a:p>
        </p:txBody>
      </p:sp>
      <p:sp>
        <p:nvSpPr>
          <p:cNvPr id="1374" name="Shape 35"/>
          <p:cNvSpPr/>
          <p:nvPr/>
        </p:nvSpPr>
        <p:spPr>
          <a:xfrm>
            <a:off x="4914900" y="3291840"/>
            <a:ext cx="246888" cy="457200"/>
          </a:xfrm>
          <a:prstGeom prst="rect">
            <a:avLst/>
          </a:prstGeom>
          <a:solidFill>
            <a:srgbClr val="7B4BC9"/>
          </a:solidFill>
          <a:ln/>
        </p:spPr>
      </p:sp>
      <p:sp>
        <p:nvSpPr>
          <p:cNvPr id="1375" name="Text 36"/>
          <p:cNvSpPr txBox="1"/>
          <p:nvPr/>
        </p:nvSpPr>
        <p:spPr>
          <a:xfrm>
            <a:off x="4914900" y="310896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800" dirty="0"/>
          </a:p>
        </p:txBody>
      </p:sp>
      <p:sp>
        <p:nvSpPr>
          <p:cNvPr id="1376" name="Shape 37"/>
          <p:cNvSpPr/>
          <p:nvPr/>
        </p:nvSpPr>
        <p:spPr>
          <a:xfrm>
            <a:off x="5189220" y="2834640"/>
            <a:ext cx="246888" cy="91440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377" name="Text 38"/>
          <p:cNvSpPr txBox="1"/>
          <p:nvPr/>
        </p:nvSpPr>
        <p:spPr>
          <a:xfrm>
            <a:off x="5189220" y="2651760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00" dirty="0"/>
          </a:p>
        </p:txBody>
      </p:sp>
      <p:sp>
        <p:nvSpPr>
          <p:cNvPr id="1378" name="Shape 39"/>
          <p:cNvSpPr/>
          <p:nvPr/>
        </p:nvSpPr>
        <p:spPr>
          <a:xfrm>
            <a:off x="1737360" y="4270248"/>
            <a:ext cx="128016" cy="12801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79" name="Text 40"/>
          <p:cNvSpPr txBox="1"/>
          <p:nvPr/>
        </p:nvSpPr>
        <p:spPr>
          <a:xfrm>
            <a:off x="1920240" y="4233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80" name="Shape 41"/>
          <p:cNvSpPr/>
          <p:nvPr/>
        </p:nvSpPr>
        <p:spPr>
          <a:xfrm>
            <a:off x="3017520" y="4270248"/>
            <a:ext cx="128016" cy="128016"/>
          </a:xfrm>
          <a:prstGeom prst="rect">
            <a:avLst/>
          </a:prstGeom>
          <a:solidFill>
            <a:srgbClr val="7B4BC9"/>
          </a:solidFill>
          <a:ln/>
        </p:spPr>
      </p:sp>
      <p:sp>
        <p:nvSpPr>
          <p:cNvPr id="1381" name="Text 42"/>
          <p:cNvSpPr txBox="1"/>
          <p:nvPr/>
        </p:nvSpPr>
        <p:spPr>
          <a:xfrm>
            <a:off x="3200400" y="4233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382" name="Shape 43"/>
          <p:cNvSpPr/>
          <p:nvPr/>
        </p:nvSpPr>
        <p:spPr>
          <a:xfrm>
            <a:off x="4297680" y="4270248"/>
            <a:ext cx="128016" cy="128016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383" name="Text 44"/>
          <p:cNvSpPr txBox="1"/>
          <p:nvPr/>
        </p:nvSpPr>
        <p:spPr>
          <a:xfrm>
            <a:off x="4480560" y="4233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00" dirty="0"/>
          </a:p>
        </p:txBody>
      </p:sp>
      <p:sp>
        <p:nvSpPr>
          <p:cNvPr id="1384" name="Shape 45"/>
          <p:cNvSpPr/>
          <p:nvPr/>
        </p:nvSpPr>
        <p:spPr>
          <a:xfrm>
            <a:off x="6126480" y="1005840"/>
            <a:ext cx="2651760" cy="3429000"/>
          </a:xfrm>
          <a:prstGeom prst="rect">
            <a:avLst/>
          </a:prstGeom>
          <a:solidFill>
            <a:srgbClr val="F4F6FA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1385" name="Shape 46"/>
          <p:cNvSpPr/>
          <p:nvPr/>
        </p:nvSpPr>
        <p:spPr>
          <a:xfrm>
            <a:off x="6976872" y="1124712"/>
            <a:ext cx="950976" cy="950976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386" name="Shape 47"/>
          <p:cNvSpPr/>
          <p:nvPr/>
        </p:nvSpPr>
        <p:spPr>
          <a:xfrm>
            <a:off x="7040880" y="1188720"/>
            <a:ext cx="822960" cy="8229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387" name="Image 0" descr="/home/claude/ic/FaTrop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161" y="1378001"/>
            <a:ext cx="444398" cy="444398"/>
          </a:xfrm>
          <a:prstGeom prst="rect">
            <a:avLst/>
          </a:prstGeom>
        </p:spPr>
      </p:pic>
      <p:sp>
        <p:nvSpPr>
          <p:cNvPr id="1388" name="Text 48"/>
          <p:cNvSpPr txBox="1"/>
          <p:nvPr/>
        </p:nvSpPr>
        <p:spPr>
          <a:xfrm>
            <a:off x="612648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</a:t>
            </a:r>
            <a:endParaRPr lang="en-US" sz="1000" dirty="0"/>
          </a:p>
        </p:txBody>
      </p:sp>
      <p:sp>
        <p:nvSpPr>
          <p:cNvPr id="1389" name="Text 49"/>
          <p:cNvSpPr txBox="1"/>
          <p:nvPr/>
        </p:nvSpPr>
        <p:spPr>
          <a:xfrm>
            <a:off x="612648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SMOTE</a:t>
            </a:r>
            <a:endParaRPr lang="en-US" sz="1800" dirty="0"/>
          </a:p>
        </p:txBody>
      </p:sp>
      <p:sp>
        <p:nvSpPr>
          <p:cNvPr id="1390" name="Text 50"/>
          <p:cNvSpPr txBox="1"/>
          <p:nvPr/>
        </p:nvSpPr>
        <p:spPr>
          <a:xfrm>
            <a:off x="6309360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PR-AUC on imbalanced data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recall, controlled false alarms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real-time scoring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SHAP explanations</a:t>
            </a:r>
            <a:endParaRPr lang="en-US" sz="1100" dirty="0"/>
          </a:p>
        </p:txBody>
      </p:sp>
      <p:sp>
        <p:nvSpPr>
          <p:cNvPr id="1391" name="Text 51"/>
          <p:cNvSpPr txBox="1"/>
          <p:nvPr/>
        </p:nvSpPr>
        <p:spPr>
          <a:xfrm>
            <a:off x="36576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values are illustrative placeholders for the sample deck.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IMPLEMENTATION IDEA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Shape 0"/>
          <p:cNvSpPr/>
          <p:nvPr/>
        </p:nvSpPr>
        <p:spPr>
          <a:xfrm>
            <a:off x="365760" y="1005840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3776AB"/>
          </a:solidFill>
          <a:ln/>
        </p:spPr>
      </p:sp>
      <p:sp>
        <p:nvSpPr>
          <p:cNvPr id="1393" name="Text 1"/>
          <p:cNvSpPr txBox="1"/>
          <p:nvPr/>
        </p:nvSpPr>
        <p:spPr>
          <a:xfrm>
            <a:off x="365760" y="10058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394" name="Shape 2"/>
          <p:cNvSpPr/>
          <p:nvPr/>
        </p:nvSpPr>
        <p:spPr>
          <a:xfrm>
            <a:off x="1426464" y="1005840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7B4BC9"/>
          </a:solidFill>
          <a:ln/>
        </p:spPr>
      </p:sp>
      <p:sp>
        <p:nvSpPr>
          <p:cNvPr id="1395" name="Text 3"/>
          <p:cNvSpPr txBox="1"/>
          <p:nvPr/>
        </p:nvSpPr>
        <p:spPr>
          <a:xfrm>
            <a:off x="1426464" y="10058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1396" name="Shape 4"/>
          <p:cNvSpPr/>
          <p:nvPr/>
        </p:nvSpPr>
        <p:spPr>
          <a:xfrm>
            <a:off x="2487168" y="1005840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F28C28"/>
          </a:solidFill>
          <a:ln/>
        </p:spPr>
      </p:sp>
      <p:sp>
        <p:nvSpPr>
          <p:cNvPr id="1397" name="Text 5"/>
          <p:cNvSpPr txBox="1"/>
          <p:nvPr/>
        </p:nvSpPr>
        <p:spPr>
          <a:xfrm>
            <a:off x="2487168" y="10058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398" name="Shape 6"/>
          <p:cNvSpPr/>
          <p:nvPr/>
        </p:nvSpPr>
        <p:spPr>
          <a:xfrm>
            <a:off x="3547872" y="1005840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27AE60"/>
          </a:solidFill>
          <a:ln/>
        </p:spPr>
      </p:sp>
      <p:sp>
        <p:nvSpPr>
          <p:cNvPr id="1399" name="Text 7"/>
          <p:cNvSpPr txBox="1"/>
          <p:nvPr/>
        </p:nvSpPr>
        <p:spPr>
          <a:xfrm>
            <a:off x="3547872" y="10058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</a:t>
            </a:r>
            <a:endParaRPr lang="en-US" sz="900" dirty="0"/>
          </a:p>
        </p:txBody>
      </p:sp>
      <p:sp>
        <p:nvSpPr>
          <p:cNvPr id="1400" name="Shape 8"/>
          <p:cNvSpPr/>
          <p:nvPr/>
        </p:nvSpPr>
        <p:spPr>
          <a:xfrm>
            <a:off x="4608576" y="1005840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E74C3C"/>
          </a:solidFill>
          <a:ln/>
        </p:spPr>
      </p:sp>
      <p:sp>
        <p:nvSpPr>
          <p:cNvPr id="1401" name="Text 9"/>
          <p:cNvSpPr txBox="1"/>
          <p:nvPr/>
        </p:nvSpPr>
        <p:spPr>
          <a:xfrm>
            <a:off x="4608576" y="10058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1402" name="Shape 10"/>
          <p:cNvSpPr/>
          <p:nvPr/>
        </p:nvSpPr>
        <p:spPr>
          <a:xfrm>
            <a:off x="5669280" y="1005840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0FA3B1"/>
          </a:solidFill>
          <a:ln/>
        </p:spPr>
      </p:sp>
      <p:sp>
        <p:nvSpPr>
          <p:cNvPr id="1403" name="Text 11"/>
          <p:cNvSpPr txBox="1"/>
          <p:nvPr/>
        </p:nvSpPr>
        <p:spPr>
          <a:xfrm>
            <a:off x="5669280" y="10058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00" dirty="0"/>
          </a:p>
        </p:txBody>
      </p:sp>
      <p:sp>
        <p:nvSpPr>
          <p:cNvPr id="1404" name="Shape 12"/>
          <p:cNvSpPr/>
          <p:nvPr/>
        </p:nvSpPr>
        <p:spPr>
          <a:xfrm>
            <a:off x="6729984" y="1005840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F39C12"/>
          </a:solidFill>
          <a:ln/>
        </p:spPr>
      </p:sp>
      <p:sp>
        <p:nvSpPr>
          <p:cNvPr id="1405" name="Text 13"/>
          <p:cNvSpPr txBox="1"/>
          <p:nvPr/>
        </p:nvSpPr>
        <p:spPr>
          <a:xfrm>
            <a:off x="6729984" y="10058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900" dirty="0"/>
          </a:p>
        </p:txBody>
      </p:sp>
      <p:sp>
        <p:nvSpPr>
          <p:cNvPr id="1406" name="Shape 14"/>
          <p:cNvSpPr/>
          <p:nvPr/>
        </p:nvSpPr>
        <p:spPr>
          <a:xfrm>
            <a:off x="7790688" y="1005840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1F2A44"/>
          </a:solidFill>
          <a:ln/>
        </p:spPr>
      </p:sp>
      <p:sp>
        <p:nvSpPr>
          <p:cNvPr id="1407" name="Text 15"/>
          <p:cNvSpPr txBox="1"/>
          <p:nvPr/>
        </p:nvSpPr>
        <p:spPr>
          <a:xfrm>
            <a:off x="7790688" y="10058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</a:t>
            </a:r>
            <a:endParaRPr lang="en-US" sz="900" dirty="0"/>
          </a:p>
        </p:txBody>
      </p:sp>
      <p:sp>
        <p:nvSpPr>
          <p:cNvPr id="1408" name="Shape 16"/>
          <p:cNvSpPr/>
          <p:nvPr/>
        </p:nvSpPr>
        <p:spPr>
          <a:xfrm>
            <a:off x="914400" y="2286000"/>
            <a:ext cx="7315200" cy="0"/>
          </a:xfrm>
          <a:prstGeom prst="line">
            <a:avLst/>
          </a:prstGeom>
          <a:noFill/>
          <a:ln w="38100">
            <a:solidFill>
              <a:srgbClr val="BBBBBB"/>
            </a:solidFill>
            <a:prstDash val="solid"/>
          </a:ln>
        </p:spPr>
      </p:sp>
      <p:sp>
        <p:nvSpPr>
          <p:cNvPr id="1409" name="Text 17"/>
          <p:cNvSpPr txBox="1"/>
          <p:nvPr/>
        </p:nvSpPr>
        <p:spPr>
          <a:xfrm>
            <a:off x="41148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410" name="Shape 18"/>
          <p:cNvSpPr/>
          <p:nvPr/>
        </p:nvSpPr>
        <p:spPr>
          <a:xfrm>
            <a:off x="804672" y="1901952"/>
            <a:ext cx="768096" cy="768096"/>
          </a:xfrm>
          <a:prstGeom prst="ellipse">
            <a:avLst/>
          </a:prstGeom>
          <a:ln w="15875">
            <a:solidFill>
              <a:srgbClr val="3776AB"/>
            </a:solidFill>
            <a:prstDash val="dash"/>
          </a:ln>
        </p:spPr>
      </p:sp>
      <p:sp>
        <p:nvSpPr>
          <p:cNvPr id="1411" name="Shape 19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3776A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12" name="Image 0" descr="/home/claude/ic/Fa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" y="2113178"/>
            <a:ext cx="345643" cy="345643"/>
          </a:xfrm>
          <a:prstGeom prst="rect">
            <a:avLst/>
          </a:prstGeom>
        </p:spPr>
      </p:pic>
      <p:sp>
        <p:nvSpPr>
          <p:cNvPr id="1413" name="Shape 20"/>
          <p:cNvSpPr/>
          <p:nvPr/>
        </p:nvSpPr>
        <p:spPr>
          <a:xfrm>
            <a:off x="411480" y="2788920"/>
            <a:ext cx="155448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1414" name="Shape 21"/>
          <p:cNvSpPr/>
          <p:nvPr/>
        </p:nvSpPr>
        <p:spPr>
          <a:xfrm>
            <a:off x="411480" y="2788920"/>
            <a:ext cx="1554480" cy="914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1415" name="Text 22"/>
          <p:cNvSpPr txBox="1"/>
          <p:nvPr/>
        </p:nvSpPr>
        <p:spPr>
          <a:xfrm>
            <a:off x="457200" y="297180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ULB / Kaggle fraud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 transactions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frauds (0.17%)</a:t>
            </a:r>
            <a:endParaRPr lang="en-US" sz="1050" dirty="0"/>
          </a:p>
        </p:txBody>
      </p:sp>
      <p:sp>
        <p:nvSpPr>
          <p:cNvPr id="1416" name="Text 23"/>
          <p:cNvSpPr txBox="1"/>
          <p:nvPr/>
        </p:nvSpPr>
        <p:spPr>
          <a:xfrm>
            <a:off x="210312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00" dirty="0"/>
          </a:p>
        </p:txBody>
      </p:sp>
      <p:sp>
        <p:nvSpPr>
          <p:cNvPr id="1417" name="Shape 24"/>
          <p:cNvSpPr/>
          <p:nvPr/>
        </p:nvSpPr>
        <p:spPr>
          <a:xfrm>
            <a:off x="2496312" y="1901952"/>
            <a:ext cx="768096" cy="768096"/>
          </a:xfrm>
          <a:prstGeom prst="ellipse">
            <a:avLst/>
          </a:prstGeom>
          <a:ln w="15875">
            <a:solidFill>
              <a:srgbClr val="7B4BC9"/>
            </a:solidFill>
            <a:prstDash val="dash"/>
          </a:ln>
        </p:spPr>
      </p:sp>
      <p:sp>
        <p:nvSpPr>
          <p:cNvPr id="1418" name="Shape 25"/>
          <p:cNvSpPr/>
          <p:nvPr/>
        </p:nvSpPr>
        <p:spPr>
          <a:xfrm>
            <a:off x="2560320" y="1965960"/>
            <a:ext cx="640080" cy="640080"/>
          </a:xfrm>
          <a:prstGeom prst="ellipse">
            <a:avLst/>
          </a:prstGeom>
          <a:solidFill>
            <a:srgbClr val="7B4BC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19" name="Image 1" descr="/home/claude/ic/Fa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7538" y="2113178"/>
            <a:ext cx="345643" cy="345643"/>
          </a:xfrm>
          <a:prstGeom prst="rect">
            <a:avLst/>
          </a:prstGeom>
        </p:spPr>
      </p:pic>
      <p:sp>
        <p:nvSpPr>
          <p:cNvPr id="1420" name="Shape 26"/>
          <p:cNvSpPr/>
          <p:nvPr/>
        </p:nvSpPr>
        <p:spPr>
          <a:xfrm>
            <a:off x="2103120" y="2788920"/>
            <a:ext cx="155448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7B4BC9"/>
            </a:solidFill>
            <a:prstDash val="solid"/>
          </a:ln>
        </p:spPr>
      </p:sp>
      <p:sp>
        <p:nvSpPr>
          <p:cNvPr id="1421" name="Shape 27"/>
          <p:cNvSpPr/>
          <p:nvPr/>
        </p:nvSpPr>
        <p:spPr>
          <a:xfrm>
            <a:off x="2103120" y="2788920"/>
            <a:ext cx="1554480" cy="91440"/>
          </a:xfrm>
          <a:prstGeom prst="rect">
            <a:avLst/>
          </a:prstGeom>
          <a:solidFill>
            <a:srgbClr val="7B4BC9"/>
          </a:solidFill>
          <a:ln/>
        </p:spPr>
      </p:sp>
      <p:sp>
        <p:nvSpPr>
          <p:cNvPr id="1422" name="Text 28"/>
          <p:cNvSpPr txBox="1"/>
          <p:nvPr/>
        </p:nvSpPr>
        <p:spPr>
          <a:xfrm>
            <a:off x="2148840" y="297180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Amount &amp; Time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train only</a:t>
            </a:r>
            <a:endParaRPr lang="en-US" sz="1050" dirty="0"/>
          </a:p>
        </p:txBody>
      </p:sp>
      <p:sp>
        <p:nvSpPr>
          <p:cNvPr id="1423" name="Text 29"/>
          <p:cNvSpPr txBox="1"/>
          <p:nvPr/>
        </p:nvSpPr>
        <p:spPr>
          <a:xfrm>
            <a:off x="379476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</a:t>
            </a:r>
            <a:endParaRPr lang="en-US" sz="1400" dirty="0"/>
          </a:p>
        </p:txBody>
      </p:sp>
      <p:sp>
        <p:nvSpPr>
          <p:cNvPr id="1424" name="Shape 30"/>
          <p:cNvSpPr/>
          <p:nvPr/>
        </p:nvSpPr>
        <p:spPr>
          <a:xfrm>
            <a:off x="4187952" y="1901952"/>
            <a:ext cx="768096" cy="768096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425" name="Shape 31"/>
          <p:cNvSpPr/>
          <p:nvPr/>
        </p:nvSpPr>
        <p:spPr>
          <a:xfrm>
            <a:off x="4251960" y="1965960"/>
            <a:ext cx="640080" cy="64008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26" name="Image 2" descr="/home/claude/ic/Fa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178" y="2113178"/>
            <a:ext cx="345643" cy="345643"/>
          </a:xfrm>
          <a:prstGeom prst="rect">
            <a:avLst/>
          </a:prstGeom>
        </p:spPr>
      </p:pic>
      <p:sp>
        <p:nvSpPr>
          <p:cNvPr id="1427" name="Shape 32"/>
          <p:cNvSpPr/>
          <p:nvPr/>
        </p:nvSpPr>
        <p:spPr>
          <a:xfrm>
            <a:off x="3794760" y="2788920"/>
            <a:ext cx="155448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</p:sp>
      <p:sp>
        <p:nvSpPr>
          <p:cNvPr id="1428" name="Shape 33"/>
          <p:cNvSpPr/>
          <p:nvPr/>
        </p:nvSpPr>
        <p:spPr>
          <a:xfrm>
            <a:off x="3794760" y="2788920"/>
            <a:ext cx="1554480" cy="9144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429" name="Text 34"/>
          <p:cNvSpPr txBox="1"/>
          <p:nvPr/>
        </p:nvSpPr>
        <p:spPr>
          <a:xfrm>
            <a:off x="3840480" y="297180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RF, XGBoost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050" dirty="0"/>
          </a:p>
        </p:txBody>
      </p:sp>
      <p:sp>
        <p:nvSpPr>
          <p:cNvPr id="1430" name="Text 35"/>
          <p:cNvSpPr txBox="1"/>
          <p:nvPr/>
        </p:nvSpPr>
        <p:spPr>
          <a:xfrm>
            <a:off x="548640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431" name="Shape 36"/>
          <p:cNvSpPr/>
          <p:nvPr/>
        </p:nvSpPr>
        <p:spPr>
          <a:xfrm>
            <a:off x="5879592" y="1901952"/>
            <a:ext cx="768096" cy="768096"/>
          </a:xfrm>
          <a:prstGeom prst="ellipse">
            <a:avLst/>
          </a:prstGeom>
          <a:ln w="15875">
            <a:solidFill>
              <a:srgbClr val="27AE60"/>
            </a:solidFill>
            <a:prstDash val="dash"/>
          </a:ln>
        </p:spPr>
      </p:sp>
      <p:sp>
        <p:nvSpPr>
          <p:cNvPr id="1432" name="Shape 37"/>
          <p:cNvSpPr/>
          <p:nvPr/>
        </p:nvSpPr>
        <p:spPr>
          <a:xfrm>
            <a:off x="5943600" y="1965960"/>
            <a:ext cx="640080" cy="64008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33" name="Image 3" descr="/home/claude/ic/Fa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0818" y="2113178"/>
            <a:ext cx="345643" cy="345643"/>
          </a:xfrm>
          <a:prstGeom prst="rect">
            <a:avLst/>
          </a:prstGeom>
        </p:spPr>
      </p:pic>
      <p:sp>
        <p:nvSpPr>
          <p:cNvPr id="1434" name="Shape 38"/>
          <p:cNvSpPr/>
          <p:nvPr/>
        </p:nvSpPr>
        <p:spPr>
          <a:xfrm>
            <a:off x="5486400" y="2788920"/>
            <a:ext cx="155448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7AE60"/>
            </a:solidFill>
            <a:prstDash val="solid"/>
          </a:ln>
        </p:spPr>
      </p:sp>
      <p:sp>
        <p:nvSpPr>
          <p:cNvPr id="1435" name="Shape 39"/>
          <p:cNvSpPr/>
          <p:nvPr/>
        </p:nvSpPr>
        <p:spPr>
          <a:xfrm>
            <a:off x="5486400" y="2788920"/>
            <a:ext cx="155448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36" name="Text 40"/>
          <p:cNvSpPr txBox="1"/>
          <p:nvPr/>
        </p:nvSpPr>
        <p:spPr>
          <a:xfrm>
            <a:off x="5532120" y="297180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F1, PR-AUC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050" dirty="0"/>
          </a:p>
        </p:txBody>
      </p:sp>
      <p:sp>
        <p:nvSpPr>
          <p:cNvPr id="1437" name="Text 41"/>
          <p:cNvSpPr txBox="1"/>
          <p:nvPr/>
        </p:nvSpPr>
        <p:spPr>
          <a:xfrm>
            <a:off x="717804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1438" name="Shape 42"/>
          <p:cNvSpPr/>
          <p:nvPr/>
        </p:nvSpPr>
        <p:spPr>
          <a:xfrm>
            <a:off x="7571232" y="1901952"/>
            <a:ext cx="768096" cy="768096"/>
          </a:xfrm>
          <a:prstGeom prst="ellipse">
            <a:avLst/>
          </a:prstGeom>
          <a:ln w="15875">
            <a:solidFill>
              <a:srgbClr val="E74C3C"/>
            </a:solidFill>
            <a:prstDash val="dash"/>
          </a:ln>
        </p:spPr>
      </p:sp>
      <p:sp>
        <p:nvSpPr>
          <p:cNvPr id="1439" name="Shape 43"/>
          <p:cNvSpPr/>
          <p:nvPr/>
        </p:nvSpPr>
        <p:spPr>
          <a:xfrm>
            <a:off x="7635240" y="1965960"/>
            <a:ext cx="640080" cy="64008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40" name="Image 4" descr="/home/claude/ic/Fa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2458" y="2113178"/>
            <a:ext cx="345643" cy="345643"/>
          </a:xfrm>
          <a:prstGeom prst="rect">
            <a:avLst/>
          </a:prstGeom>
        </p:spPr>
      </p:pic>
      <p:sp>
        <p:nvSpPr>
          <p:cNvPr id="1441" name="Shape 44"/>
          <p:cNvSpPr/>
          <p:nvPr/>
        </p:nvSpPr>
        <p:spPr>
          <a:xfrm>
            <a:off x="7178040" y="2788920"/>
            <a:ext cx="155448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74C3C"/>
            </a:solidFill>
            <a:prstDash val="solid"/>
          </a:ln>
        </p:spPr>
      </p:sp>
      <p:sp>
        <p:nvSpPr>
          <p:cNvPr id="1442" name="Shape 45"/>
          <p:cNvSpPr/>
          <p:nvPr/>
        </p:nvSpPr>
        <p:spPr>
          <a:xfrm>
            <a:off x="7178040" y="2788920"/>
            <a:ext cx="1554480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43" name="Text 46"/>
          <p:cNvSpPr txBox="1"/>
          <p:nvPr/>
        </p:nvSpPr>
        <p:spPr>
          <a:xfrm>
            <a:off x="7223760" y="297180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 API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fraud probability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or approve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MODULES (5 MODULES)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Shape 0"/>
          <p:cNvSpPr/>
          <p:nvPr/>
        </p:nvSpPr>
        <p:spPr>
          <a:xfrm>
            <a:off x="484632" y="1216152"/>
            <a:ext cx="1042416" cy="1042416"/>
          </a:xfrm>
          <a:prstGeom prst="ellipse">
            <a:avLst/>
          </a:prstGeom>
          <a:ln w="15875">
            <a:solidFill>
              <a:srgbClr val="3776AB"/>
            </a:solidFill>
            <a:prstDash val="dash"/>
          </a:ln>
        </p:spPr>
      </p:sp>
      <p:sp>
        <p:nvSpPr>
          <p:cNvPr id="1445" name="Shape 1"/>
          <p:cNvSpPr/>
          <p:nvPr/>
        </p:nvSpPr>
        <p:spPr>
          <a:xfrm>
            <a:off x="548640" y="1280160"/>
            <a:ext cx="914400" cy="914400"/>
          </a:xfrm>
          <a:prstGeom prst="ellipse">
            <a:avLst/>
          </a:prstGeom>
          <a:solidFill>
            <a:srgbClr val="3776A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46" name="Image 0" descr="/home/claude/ic/Fa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490472"/>
            <a:ext cx="493776" cy="493776"/>
          </a:xfrm>
          <a:prstGeom prst="rect">
            <a:avLst/>
          </a:prstGeom>
        </p:spPr>
      </p:pic>
      <p:sp>
        <p:nvSpPr>
          <p:cNvPr id="1447" name="Shape 2"/>
          <p:cNvSpPr/>
          <p:nvPr/>
        </p:nvSpPr>
        <p:spPr>
          <a:xfrm>
            <a:off x="1572768" y="1737360"/>
            <a:ext cx="64008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448" name="Shape 3"/>
          <p:cNvSpPr/>
          <p:nvPr/>
        </p:nvSpPr>
        <p:spPr>
          <a:xfrm>
            <a:off x="201168" y="2697480"/>
            <a:ext cx="1609344" cy="1783080"/>
          </a:xfrm>
          <a:prstGeom prst="rect">
            <a:avLst/>
          </a:prstGeom>
          <a:solidFill>
            <a:srgbClr val="F4F6FA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1449" name="Shape 4"/>
          <p:cNvSpPr/>
          <p:nvPr/>
        </p:nvSpPr>
        <p:spPr>
          <a:xfrm>
            <a:off x="201168" y="2697480"/>
            <a:ext cx="1609344" cy="73152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1450" name="Text 5"/>
          <p:cNvSpPr txBox="1"/>
          <p:nvPr/>
        </p:nvSpPr>
        <p:spPr>
          <a:xfrm>
            <a:off x="201168" y="285292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451" name="Text 6"/>
          <p:cNvSpPr txBox="1"/>
          <p:nvPr/>
        </p:nvSpPr>
        <p:spPr>
          <a:xfrm>
            <a:off x="27432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200" dirty="0"/>
          </a:p>
        </p:txBody>
      </p:sp>
      <p:sp>
        <p:nvSpPr>
          <p:cNvPr id="1452" name="Text 7"/>
          <p:cNvSpPr txBox="1"/>
          <p:nvPr/>
        </p:nvSpPr>
        <p:spPr>
          <a:xfrm>
            <a:off x="274320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Clean, scaled data</a:t>
            </a:r>
            <a:endParaRPr lang="en-US" sz="1000" dirty="0"/>
          </a:p>
        </p:txBody>
      </p:sp>
      <p:sp>
        <p:nvSpPr>
          <p:cNvPr id="1453" name="Shape 8"/>
          <p:cNvSpPr/>
          <p:nvPr/>
        </p:nvSpPr>
        <p:spPr>
          <a:xfrm>
            <a:off x="2267712" y="1216152"/>
            <a:ext cx="1042416" cy="1042416"/>
          </a:xfrm>
          <a:prstGeom prst="ellipse">
            <a:avLst/>
          </a:prstGeom>
          <a:ln w="15875">
            <a:solidFill>
              <a:srgbClr val="7B4BC9"/>
            </a:solidFill>
            <a:prstDash val="dash"/>
          </a:ln>
        </p:spPr>
      </p:sp>
      <p:sp>
        <p:nvSpPr>
          <p:cNvPr id="1454" name="Shape 9"/>
          <p:cNvSpPr/>
          <p:nvPr/>
        </p:nvSpPr>
        <p:spPr>
          <a:xfrm>
            <a:off x="2331720" y="1280160"/>
            <a:ext cx="914400" cy="914400"/>
          </a:xfrm>
          <a:prstGeom prst="ellipse">
            <a:avLst/>
          </a:prstGeom>
          <a:solidFill>
            <a:srgbClr val="7B4BC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55" name="Image 1" descr="/home/claude/ic/Fa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032" y="1490472"/>
            <a:ext cx="493776" cy="493776"/>
          </a:xfrm>
          <a:prstGeom prst="rect">
            <a:avLst/>
          </a:prstGeom>
        </p:spPr>
      </p:pic>
      <p:sp>
        <p:nvSpPr>
          <p:cNvPr id="1456" name="Shape 10"/>
          <p:cNvSpPr/>
          <p:nvPr/>
        </p:nvSpPr>
        <p:spPr>
          <a:xfrm>
            <a:off x="3355848" y="1737360"/>
            <a:ext cx="64008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457" name="Shape 11"/>
          <p:cNvSpPr/>
          <p:nvPr/>
        </p:nvSpPr>
        <p:spPr>
          <a:xfrm>
            <a:off x="1984248" y="2697480"/>
            <a:ext cx="1609344" cy="1783080"/>
          </a:xfrm>
          <a:prstGeom prst="rect">
            <a:avLst/>
          </a:prstGeom>
          <a:solidFill>
            <a:srgbClr val="F4F6FA"/>
          </a:solidFill>
          <a:ln w="15875">
            <a:solidFill>
              <a:srgbClr val="7B4BC9"/>
            </a:solidFill>
            <a:prstDash val="solid"/>
          </a:ln>
        </p:spPr>
      </p:sp>
      <p:sp>
        <p:nvSpPr>
          <p:cNvPr id="1458" name="Shape 12"/>
          <p:cNvSpPr/>
          <p:nvPr/>
        </p:nvSpPr>
        <p:spPr>
          <a:xfrm>
            <a:off x="1984248" y="2697480"/>
            <a:ext cx="1609344" cy="73152"/>
          </a:xfrm>
          <a:prstGeom prst="rect">
            <a:avLst/>
          </a:prstGeom>
          <a:solidFill>
            <a:srgbClr val="7B4BC9"/>
          </a:solidFill>
          <a:ln/>
        </p:spPr>
      </p:sp>
      <p:sp>
        <p:nvSpPr>
          <p:cNvPr id="1459" name="Text 13"/>
          <p:cNvSpPr txBox="1"/>
          <p:nvPr/>
        </p:nvSpPr>
        <p:spPr>
          <a:xfrm>
            <a:off x="1984248" y="285292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460" name="Text 14"/>
          <p:cNvSpPr txBox="1"/>
          <p:nvPr/>
        </p:nvSpPr>
        <p:spPr>
          <a:xfrm>
            <a:off x="205740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1200" dirty="0"/>
          </a:p>
        </p:txBody>
      </p:sp>
      <p:sp>
        <p:nvSpPr>
          <p:cNvPr id="1461" name="Text 15"/>
          <p:cNvSpPr txBox="1"/>
          <p:nvPr/>
        </p:nvSpPr>
        <p:spPr>
          <a:xfrm>
            <a:off x="2057400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right clues</a:t>
            </a:r>
            <a:endParaRPr lang="en-US" sz="1000" dirty="0"/>
          </a:p>
        </p:txBody>
      </p:sp>
      <p:sp>
        <p:nvSpPr>
          <p:cNvPr id="1462" name="Shape 16"/>
          <p:cNvSpPr/>
          <p:nvPr/>
        </p:nvSpPr>
        <p:spPr>
          <a:xfrm>
            <a:off x="4050792" y="1216152"/>
            <a:ext cx="1042416" cy="1042416"/>
          </a:xfrm>
          <a:prstGeom prst="ellipse">
            <a:avLst/>
          </a:prstGeom>
          <a:ln w="15875">
            <a:solidFill>
              <a:srgbClr val="27AE60"/>
            </a:solidFill>
            <a:prstDash val="dash"/>
          </a:ln>
        </p:spPr>
      </p:sp>
      <p:sp>
        <p:nvSpPr>
          <p:cNvPr id="1463" name="Shape 17"/>
          <p:cNvSpPr/>
          <p:nvPr/>
        </p:nvSpPr>
        <p:spPr>
          <a:xfrm>
            <a:off x="4114800" y="1280160"/>
            <a:ext cx="914400" cy="9144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64" name="Image 2" descr="/home/claude/ic/FaBalance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1490472"/>
            <a:ext cx="493776" cy="493776"/>
          </a:xfrm>
          <a:prstGeom prst="rect">
            <a:avLst/>
          </a:prstGeom>
        </p:spPr>
      </p:pic>
      <p:sp>
        <p:nvSpPr>
          <p:cNvPr id="1465" name="Shape 18"/>
          <p:cNvSpPr/>
          <p:nvPr/>
        </p:nvSpPr>
        <p:spPr>
          <a:xfrm>
            <a:off x="5138928" y="1737360"/>
            <a:ext cx="64008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466" name="Shape 19"/>
          <p:cNvSpPr/>
          <p:nvPr/>
        </p:nvSpPr>
        <p:spPr>
          <a:xfrm>
            <a:off x="3767328" y="2697480"/>
            <a:ext cx="1609344" cy="1783080"/>
          </a:xfrm>
          <a:prstGeom prst="rect">
            <a:avLst/>
          </a:prstGeom>
          <a:solidFill>
            <a:srgbClr val="F4F6FA"/>
          </a:solidFill>
          <a:ln w="15875">
            <a:solidFill>
              <a:srgbClr val="27AE60"/>
            </a:solidFill>
            <a:prstDash val="solid"/>
          </a:ln>
        </p:spPr>
      </p:sp>
      <p:sp>
        <p:nvSpPr>
          <p:cNvPr id="1467" name="Shape 20"/>
          <p:cNvSpPr/>
          <p:nvPr/>
        </p:nvSpPr>
        <p:spPr>
          <a:xfrm>
            <a:off x="3767328" y="2697480"/>
            <a:ext cx="1609344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68" name="Text 21"/>
          <p:cNvSpPr txBox="1"/>
          <p:nvPr/>
        </p:nvSpPr>
        <p:spPr>
          <a:xfrm>
            <a:off x="3767328" y="285292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469" name="Text 22"/>
          <p:cNvSpPr txBox="1"/>
          <p:nvPr/>
        </p:nvSpPr>
        <p:spPr>
          <a:xfrm>
            <a:off x="384048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 (SMOTE)</a:t>
            </a:r>
            <a:endParaRPr lang="en-US" sz="1200" dirty="0"/>
          </a:p>
        </p:txBody>
      </p:sp>
      <p:sp>
        <p:nvSpPr>
          <p:cNvPr id="1470" name="Text 23"/>
          <p:cNvSpPr txBox="1"/>
          <p:nvPr/>
        </p:nvSpPr>
        <p:spPr>
          <a:xfrm>
            <a:off x="3840480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Fair class balance</a:t>
            </a:r>
            <a:endParaRPr lang="en-US" sz="1000" dirty="0"/>
          </a:p>
        </p:txBody>
      </p:sp>
      <p:sp>
        <p:nvSpPr>
          <p:cNvPr id="1471" name="Shape 24"/>
          <p:cNvSpPr/>
          <p:nvPr/>
        </p:nvSpPr>
        <p:spPr>
          <a:xfrm>
            <a:off x="5833872" y="1216152"/>
            <a:ext cx="1042416" cy="1042416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472" name="Shape 25"/>
          <p:cNvSpPr/>
          <p:nvPr/>
        </p:nvSpPr>
        <p:spPr>
          <a:xfrm>
            <a:off x="5897880" y="1280160"/>
            <a:ext cx="914400" cy="91440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73" name="Image 3" descr="/home/claude/ic/Fa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1490472"/>
            <a:ext cx="493776" cy="493776"/>
          </a:xfrm>
          <a:prstGeom prst="rect">
            <a:avLst/>
          </a:prstGeom>
        </p:spPr>
      </p:pic>
      <p:sp>
        <p:nvSpPr>
          <p:cNvPr id="1474" name="Shape 26"/>
          <p:cNvSpPr/>
          <p:nvPr/>
        </p:nvSpPr>
        <p:spPr>
          <a:xfrm>
            <a:off x="6922008" y="1737360"/>
            <a:ext cx="64008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1475" name="Shape 27"/>
          <p:cNvSpPr/>
          <p:nvPr/>
        </p:nvSpPr>
        <p:spPr>
          <a:xfrm>
            <a:off x="5550408" y="2697480"/>
            <a:ext cx="1609344" cy="1783080"/>
          </a:xfrm>
          <a:prstGeom prst="rect">
            <a:avLst/>
          </a:prstGeom>
          <a:solidFill>
            <a:srgbClr val="F4F6FA"/>
          </a:solidFill>
          <a:ln w="15875">
            <a:solidFill>
              <a:srgbClr val="F28C28"/>
            </a:solidFill>
            <a:prstDash val="solid"/>
          </a:ln>
        </p:spPr>
      </p:sp>
      <p:sp>
        <p:nvSpPr>
          <p:cNvPr id="1476" name="Shape 28"/>
          <p:cNvSpPr/>
          <p:nvPr/>
        </p:nvSpPr>
        <p:spPr>
          <a:xfrm>
            <a:off x="5550408" y="2697480"/>
            <a:ext cx="1609344" cy="73152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477" name="Text 29"/>
          <p:cNvSpPr txBox="1"/>
          <p:nvPr/>
        </p:nvSpPr>
        <p:spPr>
          <a:xfrm>
            <a:off x="5550408" y="285292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478" name="Text 30"/>
          <p:cNvSpPr txBox="1"/>
          <p:nvPr/>
        </p:nvSpPr>
        <p:spPr>
          <a:xfrm>
            <a:off x="562356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Optimisation</a:t>
            </a:r>
            <a:endParaRPr lang="en-US" sz="1200" dirty="0"/>
          </a:p>
        </p:txBody>
      </p:sp>
      <p:sp>
        <p:nvSpPr>
          <p:cNvPr id="1479" name="Text 31"/>
          <p:cNvSpPr txBox="1"/>
          <p:nvPr/>
        </p:nvSpPr>
        <p:spPr>
          <a:xfrm>
            <a:off x="5623560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tuned model</a:t>
            </a:r>
            <a:endParaRPr lang="en-US" sz="1000" dirty="0"/>
          </a:p>
        </p:txBody>
      </p:sp>
      <p:sp>
        <p:nvSpPr>
          <p:cNvPr id="1480" name="Shape 32"/>
          <p:cNvSpPr/>
          <p:nvPr/>
        </p:nvSpPr>
        <p:spPr>
          <a:xfrm>
            <a:off x="7616952" y="1216152"/>
            <a:ext cx="1042416" cy="1042416"/>
          </a:xfrm>
          <a:prstGeom prst="ellipse">
            <a:avLst/>
          </a:prstGeom>
          <a:ln w="15875">
            <a:solidFill>
              <a:srgbClr val="E74C3C"/>
            </a:solidFill>
            <a:prstDash val="dash"/>
          </a:ln>
        </p:spPr>
      </p:sp>
      <p:sp>
        <p:nvSpPr>
          <p:cNvPr id="1481" name="Shape 33"/>
          <p:cNvSpPr/>
          <p:nvPr/>
        </p:nvSpPr>
        <p:spPr>
          <a:xfrm>
            <a:off x="7680960" y="1280160"/>
            <a:ext cx="914400" cy="91440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82" name="Image 4" descr="/home/claude/ic/FaClipboard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272" y="1490472"/>
            <a:ext cx="493776" cy="493776"/>
          </a:xfrm>
          <a:prstGeom prst="rect">
            <a:avLst/>
          </a:prstGeom>
        </p:spPr>
      </p:pic>
      <p:sp>
        <p:nvSpPr>
          <p:cNvPr id="1483" name="Shape 34"/>
          <p:cNvSpPr/>
          <p:nvPr/>
        </p:nvSpPr>
        <p:spPr>
          <a:xfrm>
            <a:off x="7333488" y="2697480"/>
            <a:ext cx="1609344" cy="1783080"/>
          </a:xfrm>
          <a:prstGeom prst="rect">
            <a:avLst/>
          </a:prstGeom>
          <a:solidFill>
            <a:srgbClr val="F4F6FA"/>
          </a:solidFill>
          <a:ln w="15875">
            <a:solidFill>
              <a:srgbClr val="E74C3C"/>
            </a:solidFill>
            <a:prstDash val="solid"/>
          </a:ln>
        </p:spPr>
      </p:sp>
      <p:sp>
        <p:nvSpPr>
          <p:cNvPr id="1484" name="Shape 35"/>
          <p:cNvSpPr/>
          <p:nvPr/>
        </p:nvSpPr>
        <p:spPr>
          <a:xfrm>
            <a:off x="7333488" y="2697480"/>
            <a:ext cx="1609344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85" name="Text 36"/>
          <p:cNvSpPr txBox="1"/>
          <p:nvPr/>
        </p:nvSpPr>
        <p:spPr>
          <a:xfrm>
            <a:off x="7333488" y="285292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1486" name="Text 37"/>
          <p:cNvSpPr txBox="1"/>
          <p:nvPr/>
        </p:nvSpPr>
        <p:spPr>
          <a:xfrm>
            <a:off x="740664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Alert Output</a:t>
            </a:r>
            <a:endParaRPr lang="en-US" sz="1200" dirty="0"/>
          </a:p>
        </p:txBody>
      </p:sp>
      <p:sp>
        <p:nvSpPr>
          <p:cNvPr id="1487" name="Text 38"/>
          <p:cNvSpPr txBox="1"/>
          <p:nvPr/>
        </p:nvSpPr>
        <p:spPr>
          <a:xfrm>
            <a:off x="7406640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Alerts you can trust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</a:rPr>
              <a:t>MODULE 1: DATA COLLECTION &amp; PREPROCESSING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Shape 0"/>
          <p:cNvSpPr/>
          <p:nvPr/>
        </p:nvSpPr>
        <p:spPr>
          <a:xfrm>
            <a:off x="365760" y="1005840"/>
            <a:ext cx="2743200" cy="356616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1489" name="Shape 1"/>
          <p:cNvSpPr/>
          <p:nvPr/>
        </p:nvSpPr>
        <p:spPr>
          <a:xfrm>
            <a:off x="1124712" y="1216152"/>
            <a:ext cx="1225296" cy="1225296"/>
          </a:xfrm>
          <a:prstGeom prst="ellipse">
            <a:avLst/>
          </a:prstGeom>
          <a:ln w="15875">
            <a:solidFill>
              <a:srgbClr val="24568A"/>
            </a:solidFill>
            <a:prstDash val="dash"/>
          </a:ln>
        </p:spPr>
      </p:sp>
      <p:sp>
        <p:nvSpPr>
          <p:cNvPr id="1490" name="Shape 2"/>
          <p:cNvSpPr/>
          <p:nvPr/>
        </p:nvSpPr>
        <p:spPr>
          <a:xfrm>
            <a:off x="1188720" y="1280160"/>
            <a:ext cx="1097280" cy="1097280"/>
          </a:xfrm>
          <a:prstGeom prst="ellipse">
            <a:avLst/>
          </a:prstGeom>
          <a:solidFill>
            <a:srgbClr val="24568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91" name="Image 0" descr="/home/claude/ic/Fa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094" y="1532534"/>
            <a:ext cx="592531" cy="592531"/>
          </a:xfrm>
          <a:prstGeom prst="rect">
            <a:avLst/>
          </a:prstGeom>
        </p:spPr>
      </p:pic>
      <p:sp>
        <p:nvSpPr>
          <p:cNvPr id="1492" name="Text 3"/>
          <p:cNvSpPr txBox="1"/>
          <p:nvPr/>
        </p:nvSpPr>
        <p:spPr>
          <a:xfrm>
            <a:off x="36576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1493" name="Text 4"/>
          <p:cNvSpPr txBox="1"/>
          <p:nvPr/>
        </p:nvSpPr>
        <p:spPr>
          <a:xfrm>
            <a:off x="50292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700" dirty="0"/>
          </a:p>
        </p:txBody>
      </p:sp>
      <p:sp>
        <p:nvSpPr>
          <p:cNvPr id="1494" name="Text 5"/>
          <p:cNvSpPr txBox="1"/>
          <p:nvPr/>
        </p:nvSpPr>
        <p:spPr>
          <a:xfrm>
            <a:off x="50292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washing and chopping vegetables before you cook."</a:t>
            </a:r>
            <a:endParaRPr lang="en-US" sz="1100" dirty="0"/>
          </a:p>
        </p:txBody>
      </p:sp>
      <p:sp>
        <p:nvSpPr>
          <p:cNvPr id="1495" name="Text 6"/>
          <p:cNvSpPr txBox="1"/>
          <p:nvPr/>
        </p:nvSpPr>
        <p:spPr>
          <a:xfrm>
            <a:off x="3383280" y="1005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496" name="Shape 7"/>
          <p:cNvSpPr/>
          <p:nvPr/>
        </p:nvSpPr>
        <p:spPr>
          <a:xfrm>
            <a:off x="3383280" y="1417320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497" name="Text 8"/>
          <p:cNvSpPr txBox="1"/>
          <p:nvPr/>
        </p:nvSpPr>
        <p:spPr>
          <a:xfrm>
            <a:off x="33832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98" name="Text 9"/>
          <p:cNvSpPr txBox="1"/>
          <p:nvPr/>
        </p:nvSpPr>
        <p:spPr>
          <a:xfrm>
            <a:off x="37947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transaction dataset (284,807 records, 492 frauds)</a:t>
            </a:r>
            <a:endParaRPr lang="en-US" sz="1150" dirty="0"/>
          </a:p>
        </p:txBody>
      </p:sp>
      <p:sp>
        <p:nvSpPr>
          <p:cNvPr id="1499" name="Shape 10"/>
          <p:cNvSpPr/>
          <p:nvPr/>
        </p:nvSpPr>
        <p:spPr>
          <a:xfrm>
            <a:off x="3383280" y="1892808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500" name="Text 11"/>
          <p:cNvSpPr txBox="1"/>
          <p:nvPr/>
        </p:nvSpPr>
        <p:spPr>
          <a:xfrm>
            <a:off x="338328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01" name="Text 12"/>
          <p:cNvSpPr txBox="1"/>
          <p:nvPr/>
        </p:nvSpPr>
        <p:spPr>
          <a:xfrm>
            <a:off x="3794760" y="18470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shape, data types, duplicates and missing values</a:t>
            </a:r>
            <a:endParaRPr lang="en-US" sz="1150" dirty="0"/>
          </a:p>
        </p:txBody>
      </p:sp>
      <p:sp>
        <p:nvSpPr>
          <p:cNvPr id="1502" name="Shape 13"/>
          <p:cNvSpPr/>
          <p:nvPr/>
        </p:nvSpPr>
        <p:spPr>
          <a:xfrm>
            <a:off x="3383280" y="2368296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503" name="Text 14"/>
          <p:cNvSpPr txBox="1"/>
          <p:nvPr/>
        </p:nvSpPr>
        <p:spPr>
          <a:xfrm>
            <a:off x="338328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04" name="Text 15"/>
          <p:cNvSpPr txBox="1"/>
          <p:nvPr/>
        </p:nvSpPr>
        <p:spPr>
          <a:xfrm>
            <a:off x="3794760" y="23225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Amount and Time with StandardScaler</a:t>
            </a:r>
            <a:endParaRPr lang="en-US" sz="1150" dirty="0"/>
          </a:p>
        </p:txBody>
      </p:sp>
      <p:sp>
        <p:nvSpPr>
          <p:cNvPr id="1505" name="Shape 16"/>
          <p:cNvSpPr/>
          <p:nvPr/>
        </p:nvSpPr>
        <p:spPr>
          <a:xfrm>
            <a:off x="3383280" y="2843784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506" name="Text 17"/>
          <p:cNvSpPr txBox="1"/>
          <p:nvPr/>
        </p:nvSpPr>
        <p:spPr>
          <a:xfrm>
            <a:off x="338328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07" name="Text 18"/>
          <p:cNvSpPr txBox="1"/>
          <p:nvPr/>
        </p:nvSpPr>
        <p:spPr>
          <a:xfrm>
            <a:off x="3794760" y="2798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features (X) from the Class label (y)</a:t>
            </a:r>
            <a:endParaRPr lang="en-US" sz="1150" dirty="0"/>
          </a:p>
        </p:txBody>
      </p:sp>
      <p:sp>
        <p:nvSpPr>
          <p:cNvPr id="1508" name="Shape 19"/>
          <p:cNvSpPr/>
          <p:nvPr/>
        </p:nvSpPr>
        <p:spPr>
          <a:xfrm>
            <a:off x="3383280" y="3319272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509" name="Text 20"/>
          <p:cNvSpPr txBox="1"/>
          <p:nvPr/>
        </p:nvSpPr>
        <p:spPr>
          <a:xfrm>
            <a:off x="338328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10" name="Text 21"/>
          <p:cNvSpPr txBox="1"/>
          <p:nvPr/>
        </p:nvSpPr>
        <p:spPr>
          <a:xfrm>
            <a:off x="3794760" y="32735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clean, consistent data for modelling</a:t>
            </a:r>
            <a:endParaRPr lang="en-US" sz="1150" dirty="0"/>
          </a:p>
        </p:txBody>
      </p:sp>
      <p:sp>
        <p:nvSpPr>
          <p:cNvPr id="1511" name="Shape 22"/>
          <p:cNvSpPr/>
          <p:nvPr/>
        </p:nvSpPr>
        <p:spPr>
          <a:xfrm>
            <a:off x="33832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1512" name="Text 23"/>
          <p:cNvSpPr txBox="1"/>
          <p:nvPr/>
        </p:nvSpPr>
        <p:spPr>
          <a:xfrm>
            <a:off x="33832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513" name="Text 24"/>
          <p:cNvSpPr txBox="1"/>
          <p:nvPr/>
        </p:nvSpPr>
        <p:spPr>
          <a:xfrm>
            <a:off x="34290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CSV: Time, Amount, V1–V28, Class</a:t>
            </a:r>
            <a:endParaRPr lang="en-US" sz="900" dirty="0"/>
          </a:p>
        </p:txBody>
      </p:sp>
      <p:sp>
        <p:nvSpPr>
          <p:cNvPr id="1514" name="Shape 25"/>
          <p:cNvSpPr/>
          <p:nvPr/>
        </p:nvSpPr>
        <p:spPr>
          <a:xfrm>
            <a:off x="5047488" y="4206240"/>
            <a:ext cx="146304" cy="0"/>
          </a:xfrm>
          <a:prstGeom prst="line">
            <a:avLst/>
          </a:prstGeom>
          <a:noFill/>
          <a:ln w="25400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1515" name="Shape 26"/>
          <p:cNvSpPr/>
          <p:nvPr/>
        </p:nvSpPr>
        <p:spPr>
          <a:xfrm>
            <a:off x="52120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1516" name="Text 27"/>
          <p:cNvSpPr txBox="1"/>
          <p:nvPr/>
        </p:nvSpPr>
        <p:spPr>
          <a:xfrm>
            <a:off x="52120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50" dirty="0"/>
          </a:p>
        </p:txBody>
      </p:sp>
      <p:sp>
        <p:nvSpPr>
          <p:cNvPr id="1517" name="Text 28"/>
          <p:cNvSpPr txBox="1"/>
          <p:nvPr/>
        </p:nvSpPr>
        <p:spPr>
          <a:xfrm>
            <a:off x="52578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</a:t>
            </a:r>
            <a:endParaRPr lang="en-US" sz="900" dirty="0"/>
          </a:p>
        </p:txBody>
      </p:sp>
      <p:sp>
        <p:nvSpPr>
          <p:cNvPr id="1518" name="Shape 29"/>
          <p:cNvSpPr/>
          <p:nvPr/>
        </p:nvSpPr>
        <p:spPr>
          <a:xfrm>
            <a:off x="6876288" y="4206240"/>
            <a:ext cx="146304" cy="0"/>
          </a:xfrm>
          <a:prstGeom prst="line">
            <a:avLst/>
          </a:prstGeom>
          <a:noFill/>
          <a:ln w="25400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1519" name="Shape 30"/>
          <p:cNvSpPr/>
          <p:nvPr/>
        </p:nvSpPr>
        <p:spPr>
          <a:xfrm>
            <a:off x="70408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1520" name="Text 31"/>
          <p:cNvSpPr txBox="1"/>
          <p:nvPr/>
        </p:nvSpPr>
        <p:spPr>
          <a:xfrm>
            <a:off x="70408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1521" name="Text 32"/>
          <p:cNvSpPr txBox="1"/>
          <p:nvPr/>
        </p:nvSpPr>
        <p:spPr>
          <a:xfrm>
            <a:off x="70866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scaled dataset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</a:rPr>
              <a:t>MODULE 2: FEATURE ENGINEERING &amp; SELECTION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Shape 0"/>
          <p:cNvSpPr/>
          <p:nvPr/>
        </p:nvSpPr>
        <p:spPr>
          <a:xfrm>
            <a:off x="365760" y="1005840"/>
            <a:ext cx="2743200" cy="3566160"/>
          </a:xfrm>
          <a:prstGeom prst="rect">
            <a:avLst/>
          </a:prstGeom>
          <a:solidFill>
            <a:srgbClr val="7B4BC9"/>
          </a:solidFill>
          <a:ln/>
        </p:spPr>
      </p:sp>
      <p:sp>
        <p:nvSpPr>
          <p:cNvPr id="1523" name="Shape 1"/>
          <p:cNvSpPr/>
          <p:nvPr/>
        </p:nvSpPr>
        <p:spPr>
          <a:xfrm>
            <a:off x="1124712" y="1216152"/>
            <a:ext cx="1225296" cy="1225296"/>
          </a:xfrm>
          <a:prstGeom prst="ellipse">
            <a:avLst/>
          </a:prstGeom>
          <a:ln w="15875">
            <a:solidFill>
              <a:srgbClr val="5A33A0"/>
            </a:solidFill>
            <a:prstDash val="dash"/>
          </a:ln>
        </p:spPr>
      </p:sp>
      <p:sp>
        <p:nvSpPr>
          <p:cNvPr id="1524" name="Shape 2"/>
          <p:cNvSpPr/>
          <p:nvPr/>
        </p:nvSpPr>
        <p:spPr>
          <a:xfrm>
            <a:off x="1188720" y="1280160"/>
            <a:ext cx="1097280" cy="1097280"/>
          </a:xfrm>
          <a:prstGeom prst="ellipse">
            <a:avLst/>
          </a:prstGeom>
          <a:solidFill>
            <a:srgbClr val="5A33A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525" name="Image 0" descr="/home/claude/ic/Fa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094" y="1532534"/>
            <a:ext cx="592531" cy="592531"/>
          </a:xfrm>
          <a:prstGeom prst="rect">
            <a:avLst/>
          </a:prstGeom>
        </p:spPr>
      </p:pic>
      <p:sp>
        <p:nvSpPr>
          <p:cNvPr id="1526" name="Text 3"/>
          <p:cNvSpPr txBox="1"/>
          <p:nvPr/>
        </p:nvSpPr>
        <p:spPr>
          <a:xfrm>
            <a:off x="36576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1527" name="Text 4"/>
          <p:cNvSpPr txBox="1"/>
          <p:nvPr/>
        </p:nvSpPr>
        <p:spPr>
          <a:xfrm>
            <a:off x="50292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1700" dirty="0"/>
          </a:p>
        </p:txBody>
      </p:sp>
      <p:sp>
        <p:nvSpPr>
          <p:cNvPr id="1528" name="Text 5"/>
          <p:cNvSpPr txBox="1"/>
          <p:nvPr/>
        </p:nvSpPr>
        <p:spPr>
          <a:xfrm>
            <a:off x="50292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picking the clues a detective actually needs."</a:t>
            </a:r>
            <a:endParaRPr lang="en-US" sz="1100" dirty="0"/>
          </a:p>
        </p:txBody>
      </p:sp>
      <p:sp>
        <p:nvSpPr>
          <p:cNvPr id="1529" name="Text 6"/>
          <p:cNvSpPr txBox="1"/>
          <p:nvPr/>
        </p:nvSpPr>
        <p:spPr>
          <a:xfrm>
            <a:off x="3383280" y="1005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530" name="Shape 7"/>
          <p:cNvSpPr/>
          <p:nvPr/>
        </p:nvSpPr>
        <p:spPr>
          <a:xfrm>
            <a:off x="3383280" y="1417320"/>
            <a:ext cx="292608" cy="292608"/>
          </a:xfrm>
          <a:prstGeom prst="ellipse">
            <a:avLst/>
          </a:prstGeom>
          <a:solidFill>
            <a:srgbClr val="7B4BC9"/>
          </a:solidFill>
          <a:ln/>
        </p:spPr>
      </p:sp>
      <p:sp>
        <p:nvSpPr>
          <p:cNvPr id="1531" name="Text 8"/>
          <p:cNvSpPr txBox="1"/>
          <p:nvPr/>
        </p:nvSpPr>
        <p:spPr>
          <a:xfrm>
            <a:off x="33832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32" name="Text 9"/>
          <p:cNvSpPr txBox="1"/>
          <p:nvPr/>
        </p:nvSpPr>
        <p:spPr>
          <a:xfrm>
            <a:off x="37947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each feature relates to the fraud label</a:t>
            </a:r>
            <a:endParaRPr lang="en-US" sz="1150" dirty="0"/>
          </a:p>
        </p:txBody>
      </p:sp>
      <p:sp>
        <p:nvSpPr>
          <p:cNvPr id="1533" name="Shape 10"/>
          <p:cNvSpPr/>
          <p:nvPr/>
        </p:nvSpPr>
        <p:spPr>
          <a:xfrm>
            <a:off x="3383280" y="1892808"/>
            <a:ext cx="292608" cy="292608"/>
          </a:xfrm>
          <a:prstGeom prst="ellipse">
            <a:avLst/>
          </a:prstGeom>
          <a:solidFill>
            <a:srgbClr val="7B4BC9"/>
          </a:solidFill>
          <a:ln/>
        </p:spPr>
      </p:sp>
      <p:sp>
        <p:nvSpPr>
          <p:cNvPr id="1534" name="Text 11"/>
          <p:cNvSpPr txBox="1"/>
          <p:nvPr/>
        </p:nvSpPr>
        <p:spPr>
          <a:xfrm>
            <a:off x="338328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35" name="Text 12"/>
          <p:cNvSpPr txBox="1"/>
          <p:nvPr/>
        </p:nvSpPr>
        <p:spPr>
          <a:xfrm>
            <a:off x="3794760" y="18470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features by importance (Random Forest, mutual information)</a:t>
            </a:r>
            <a:endParaRPr lang="en-US" sz="1150" dirty="0"/>
          </a:p>
        </p:txBody>
      </p:sp>
      <p:sp>
        <p:nvSpPr>
          <p:cNvPr id="1536" name="Shape 13"/>
          <p:cNvSpPr/>
          <p:nvPr/>
        </p:nvSpPr>
        <p:spPr>
          <a:xfrm>
            <a:off x="3383280" y="2368296"/>
            <a:ext cx="292608" cy="292608"/>
          </a:xfrm>
          <a:prstGeom prst="ellipse">
            <a:avLst/>
          </a:prstGeom>
          <a:solidFill>
            <a:srgbClr val="7B4BC9"/>
          </a:solidFill>
          <a:ln/>
        </p:spPr>
      </p:sp>
      <p:sp>
        <p:nvSpPr>
          <p:cNvPr id="1537" name="Text 14"/>
          <p:cNvSpPr txBox="1"/>
          <p:nvPr/>
        </p:nvSpPr>
        <p:spPr>
          <a:xfrm>
            <a:off x="338328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38" name="Text 15"/>
          <p:cNvSpPr txBox="1"/>
          <p:nvPr/>
        </p:nvSpPr>
        <p:spPr>
          <a:xfrm>
            <a:off x="3794760" y="23225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behaviour clues: hour of day, deviation from average amount</a:t>
            </a:r>
            <a:endParaRPr lang="en-US" sz="1150" dirty="0"/>
          </a:p>
        </p:txBody>
      </p:sp>
      <p:sp>
        <p:nvSpPr>
          <p:cNvPr id="1539" name="Shape 16"/>
          <p:cNvSpPr/>
          <p:nvPr/>
        </p:nvSpPr>
        <p:spPr>
          <a:xfrm>
            <a:off x="3383280" y="2843784"/>
            <a:ext cx="292608" cy="292608"/>
          </a:xfrm>
          <a:prstGeom prst="ellipse">
            <a:avLst/>
          </a:prstGeom>
          <a:solidFill>
            <a:srgbClr val="7B4BC9"/>
          </a:solidFill>
          <a:ln/>
        </p:spPr>
      </p:sp>
      <p:sp>
        <p:nvSpPr>
          <p:cNvPr id="1540" name="Text 17"/>
          <p:cNvSpPr txBox="1"/>
          <p:nvPr/>
        </p:nvSpPr>
        <p:spPr>
          <a:xfrm>
            <a:off x="338328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41" name="Text 18"/>
          <p:cNvSpPr txBox="1"/>
          <p:nvPr/>
        </p:nvSpPr>
        <p:spPr>
          <a:xfrm>
            <a:off x="3794760" y="2798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weak or redundant features to cut noise</a:t>
            </a:r>
            <a:endParaRPr lang="en-US" sz="1150" dirty="0"/>
          </a:p>
        </p:txBody>
      </p:sp>
      <p:sp>
        <p:nvSpPr>
          <p:cNvPr id="1542" name="Shape 19"/>
          <p:cNvSpPr/>
          <p:nvPr/>
        </p:nvSpPr>
        <p:spPr>
          <a:xfrm>
            <a:off x="3383280" y="3319272"/>
            <a:ext cx="292608" cy="292608"/>
          </a:xfrm>
          <a:prstGeom prst="ellipse">
            <a:avLst/>
          </a:prstGeom>
          <a:solidFill>
            <a:srgbClr val="7B4BC9"/>
          </a:solidFill>
          <a:ln/>
        </p:spPr>
      </p:sp>
      <p:sp>
        <p:nvSpPr>
          <p:cNvPr id="1543" name="Text 20"/>
          <p:cNvSpPr txBox="1"/>
          <p:nvPr/>
        </p:nvSpPr>
        <p:spPr>
          <a:xfrm>
            <a:off x="338328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44" name="Text 21"/>
          <p:cNvSpPr txBox="1"/>
          <p:nvPr/>
        </p:nvSpPr>
        <p:spPr>
          <a:xfrm>
            <a:off x="3794760" y="32735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anonymised features that separate fraud best</a:t>
            </a:r>
            <a:endParaRPr lang="en-US" sz="1150" dirty="0"/>
          </a:p>
        </p:txBody>
      </p:sp>
      <p:sp>
        <p:nvSpPr>
          <p:cNvPr id="1545" name="Shape 22"/>
          <p:cNvSpPr/>
          <p:nvPr/>
        </p:nvSpPr>
        <p:spPr>
          <a:xfrm>
            <a:off x="33832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7B4BC9"/>
            </a:solidFill>
            <a:prstDash val="solid"/>
          </a:ln>
        </p:spPr>
      </p:sp>
      <p:sp>
        <p:nvSpPr>
          <p:cNvPr id="1546" name="Text 23"/>
          <p:cNvSpPr txBox="1"/>
          <p:nvPr/>
        </p:nvSpPr>
        <p:spPr>
          <a:xfrm>
            <a:off x="33832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547" name="Text 24"/>
          <p:cNvSpPr txBox="1"/>
          <p:nvPr/>
        </p:nvSpPr>
        <p:spPr>
          <a:xfrm>
            <a:off x="34290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scaled dataset</a:t>
            </a:r>
            <a:endParaRPr lang="en-US" sz="900" dirty="0"/>
          </a:p>
        </p:txBody>
      </p:sp>
      <p:sp>
        <p:nvSpPr>
          <p:cNvPr id="1548" name="Shape 25"/>
          <p:cNvSpPr/>
          <p:nvPr/>
        </p:nvSpPr>
        <p:spPr>
          <a:xfrm>
            <a:off x="5047488" y="4206240"/>
            <a:ext cx="146304" cy="0"/>
          </a:xfrm>
          <a:prstGeom prst="line">
            <a:avLst/>
          </a:prstGeom>
          <a:noFill/>
          <a:ln w="25400">
            <a:solidFill>
              <a:srgbClr val="7B4BC9"/>
            </a:solidFill>
            <a:prstDash val="solid"/>
            <a:tailEnd type="triangle"/>
          </a:ln>
        </p:spPr>
      </p:sp>
      <p:sp>
        <p:nvSpPr>
          <p:cNvPr id="1549" name="Shape 26"/>
          <p:cNvSpPr/>
          <p:nvPr/>
        </p:nvSpPr>
        <p:spPr>
          <a:xfrm>
            <a:off x="52120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7B4BC9"/>
            </a:solidFill>
            <a:prstDash val="solid"/>
          </a:ln>
        </p:spPr>
      </p:sp>
      <p:sp>
        <p:nvSpPr>
          <p:cNvPr id="1550" name="Text 27"/>
          <p:cNvSpPr txBox="1"/>
          <p:nvPr/>
        </p:nvSpPr>
        <p:spPr>
          <a:xfrm>
            <a:off x="52120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50" dirty="0"/>
          </a:p>
        </p:txBody>
      </p:sp>
      <p:sp>
        <p:nvSpPr>
          <p:cNvPr id="1551" name="Text 28"/>
          <p:cNvSpPr txBox="1"/>
          <p:nvPr/>
        </p:nvSpPr>
        <p:spPr>
          <a:xfrm>
            <a:off x="52578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seaborn, SelectKBest, scikit-learn</a:t>
            </a:r>
            <a:endParaRPr lang="en-US" sz="900" dirty="0"/>
          </a:p>
        </p:txBody>
      </p:sp>
      <p:sp>
        <p:nvSpPr>
          <p:cNvPr id="1552" name="Shape 29"/>
          <p:cNvSpPr/>
          <p:nvPr/>
        </p:nvSpPr>
        <p:spPr>
          <a:xfrm>
            <a:off x="6876288" y="4206240"/>
            <a:ext cx="146304" cy="0"/>
          </a:xfrm>
          <a:prstGeom prst="line">
            <a:avLst/>
          </a:prstGeom>
          <a:noFill/>
          <a:ln w="25400">
            <a:solidFill>
              <a:srgbClr val="7B4BC9"/>
            </a:solidFill>
            <a:prstDash val="solid"/>
            <a:tailEnd type="triangle"/>
          </a:ln>
        </p:spPr>
      </p:sp>
      <p:sp>
        <p:nvSpPr>
          <p:cNvPr id="1553" name="Shape 30"/>
          <p:cNvSpPr/>
          <p:nvPr/>
        </p:nvSpPr>
        <p:spPr>
          <a:xfrm>
            <a:off x="70408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7B4BC9"/>
            </a:solidFill>
            <a:prstDash val="solid"/>
          </a:ln>
        </p:spPr>
      </p:sp>
      <p:sp>
        <p:nvSpPr>
          <p:cNvPr id="1554" name="Text 31"/>
          <p:cNvSpPr txBox="1"/>
          <p:nvPr/>
        </p:nvSpPr>
        <p:spPr>
          <a:xfrm>
            <a:off x="70408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4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1555" name="Text 32"/>
          <p:cNvSpPr txBox="1"/>
          <p:nvPr/>
        </p:nvSpPr>
        <p:spPr>
          <a:xfrm>
            <a:off x="70866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Reduced, informative feature set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</a:rPr>
              <a:t>MODULE 3: IMBALANCE HANDLING (SMOTE)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Shape 0"/>
          <p:cNvSpPr/>
          <p:nvPr/>
        </p:nvSpPr>
        <p:spPr>
          <a:xfrm>
            <a:off x="365760" y="1005840"/>
            <a:ext cx="2743200" cy="3566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57" name="Shape 1"/>
          <p:cNvSpPr/>
          <p:nvPr/>
        </p:nvSpPr>
        <p:spPr>
          <a:xfrm>
            <a:off x="1124712" y="1216152"/>
            <a:ext cx="1225296" cy="1225296"/>
          </a:xfrm>
          <a:prstGeom prst="ellipse">
            <a:avLst/>
          </a:prstGeom>
          <a:ln w="15875">
            <a:solidFill>
              <a:srgbClr val="1E8449"/>
            </a:solidFill>
            <a:prstDash val="dash"/>
          </a:ln>
        </p:spPr>
      </p:sp>
      <p:sp>
        <p:nvSpPr>
          <p:cNvPr id="1558" name="Shape 2"/>
          <p:cNvSpPr/>
          <p:nvPr/>
        </p:nvSpPr>
        <p:spPr>
          <a:xfrm>
            <a:off x="1188720" y="1280160"/>
            <a:ext cx="1097280" cy="1097280"/>
          </a:xfrm>
          <a:prstGeom prst="ellipse">
            <a:avLst/>
          </a:prstGeom>
          <a:solidFill>
            <a:srgbClr val="1E844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559" name="Image 0" descr="/home/claude/ic/FaBalance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094" y="1532534"/>
            <a:ext cx="592531" cy="592531"/>
          </a:xfrm>
          <a:prstGeom prst="rect">
            <a:avLst/>
          </a:prstGeom>
        </p:spPr>
      </p:pic>
      <p:sp>
        <p:nvSpPr>
          <p:cNvPr id="1560" name="Text 3"/>
          <p:cNvSpPr txBox="1"/>
          <p:nvPr/>
        </p:nvSpPr>
        <p:spPr>
          <a:xfrm>
            <a:off x="36576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1561" name="Text 4"/>
          <p:cNvSpPr txBox="1"/>
          <p:nvPr/>
        </p:nvSpPr>
        <p:spPr>
          <a:xfrm>
            <a:off x="50292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 (SMOTE)</a:t>
            </a:r>
            <a:endParaRPr lang="en-US" sz="1700" dirty="0"/>
          </a:p>
        </p:txBody>
      </p:sp>
      <p:sp>
        <p:nvSpPr>
          <p:cNvPr id="1562" name="Text 5"/>
          <p:cNvSpPr txBox="1"/>
          <p:nvPr/>
        </p:nvSpPr>
        <p:spPr>
          <a:xfrm>
            <a:off x="50292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giving the quiet student equal time to speak up."</a:t>
            </a:r>
            <a:endParaRPr lang="en-US" sz="1100" dirty="0"/>
          </a:p>
        </p:txBody>
      </p:sp>
      <p:sp>
        <p:nvSpPr>
          <p:cNvPr id="1563" name="Text 6"/>
          <p:cNvSpPr txBox="1"/>
          <p:nvPr/>
        </p:nvSpPr>
        <p:spPr>
          <a:xfrm>
            <a:off x="3383280" y="1005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564" name="Shape 7"/>
          <p:cNvSpPr/>
          <p:nvPr/>
        </p:nvSpPr>
        <p:spPr>
          <a:xfrm>
            <a:off x="3383280" y="1417320"/>
            <a:ext cx="292608" cy="29260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65" name="Text 8"/>
          <p:cNvSpPr txBox="1"/>
          <p:nvPr/>
        </p:nvSpPr>
        <p:spPr>
          <a:xfrm>
            <a:off x="33832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66" name="Text 9"/>
          <p:cNvSpPr txBox="1"/>
          <p:nvPr/>
        </p:nvSpPr>
        <p:spPr>
          <a:xfrm>
            <a:off x="37947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only about 0.17% of swipes, so models ignore it</a:t>
            </a:r>
            <a:endParaRPr lang="en-US" sz="1150" dirty="0"/>
          </a:p>
        </p:txBody>
      </p:sp>
      <p:sp>
        <p:nvSpPr>
          <p:cNvPr id="1567" name="Shape 10"/>
          <p:cNvSpPr/>
          <p:nvPr/>
        </p:nvSpPr>
        <p:spPr>
          <a:xfrm>
            <a:off x="3383280" y="1892808"/>
            <a:ext cx="292608" cy="29260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68" name="Text 11"/>
          <p:cNvSpPr txBox="1"/>
          <p:nvPr/>
        </p:nvSpPr>
        <p:spPr>
          <a:xfrm>
            <a:off x="338328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69" name="Text 12"/>
          <p:cNvSpPr txBox="1"/>
          <p:nvPr/>
        </p:nvSpPr>
        <p:spPr>
          <a:xfrm>
            <a:off x="3794760" y="18470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creates synthetic frauds between nearby real ones</a:t>
            </a:r>
            <a:endParaRPr lang="en-US" sz="1150" dirty="0"/>
          </a:p>
        </p:txBody>
      </p:sp>
      <p:sp>
        <p:nvSpPr>
          <p:cNvPr id="1570" name="Shape 13"/>
          <p:cNvSpPr/>
          <p:nvPr/>
        </p:nvSpPr>
        <p:spPr>
          <a:xfrm>
            <a:off x="3383280" y="2368296"/>
            <a:ext cx="292608" cy="29260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71" name="Text 14"/>
          <p:cNvSpPr txBox="1"/>
          <p:nvPr/>
        </p:nvSpPr>
        <p:spPr>
          <a:xfrm>
            <a:off x="338328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72" name="Text 15"/>
          <p:cNvSpPr txBox="1"/>
          <p:nvPr/>
        </p:nvSpPr>
        <p:spPr>
          <a:xfrm>
            <a:off x="3794760" y="23225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to the training set only, never to the test set</a:t>
            </a:r>
            <a:endParaRPr lang="en-US" sz="1150" dirty="0"/>
          </a:p>
        </p:txBody>
      </p:sp>
      <p:sp>
        <p:nvSpPr>
          <p:cNvPr id="1573" name="Shape 16"/>
          <p:cNvSpPr/>
          <p:nvPr/>
        </p:nvSpPr>
        <p:spPr>
          <a:xfrm>
            <a:off x="3383280" y="2843784"/>
            <a:ext cx="292608" cy="29260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74" name="Text 17"/>
          <p:cNvSpPr txBox="1"/>
          <p:nvPr/>
        </p:nvSpPr>
        <p:spPr>
          <a:xfrm>
            <a:off x="338328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75" name="Text 18"/>
          <p:cNvSpPr txBox="1"/>
          <p:nvPr/>
        </p:nvSpPr>
        <p:spPr>
          <a:xfrm>
            <a:off x="3794760" y="2798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undersampling and class weights</a:t>
            </a:r>
            <a:endParaRPr lang="en-US" sz="1150" dirty="0"/>
          </a:p>
        </p:txBody>
      </p:sp>
      <p:sp>
        <p:nvSpPr>
          <p:cNvPr id="1576" name="Shape 19"/>
          <p:cNvSpPr/>
          <p:nvPr/>
        </p:nvSpPr>
        <p:spPr>
          <a:xfrm>
            <a:off x="3383280" y="3319272"/>
            <a:ext cx="292608" cy="29260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77" name="Text 20"/>
          <p:cNvSpPr txBox="1"/>
          <p:nvPr/>
        </p:nvSpPr>
        <p:spPr>
          <a:xfrm>
            <a:off x="338328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78" name="Text 21"/>
          <p:cNvSpPr txBox="1"/>
          <p:nvPr/>
        </p:nvSpPr>
        <p:spPr>
          <a:xfrm>
            <a:off x="3794760" y="32735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higher fraud recall on realistic test data</a:t>
            </a:r>
            <a:endParaRPr lang="en-US" sz="1150" dirty="0"/>
          </a:p>
        </p:txBody>
      </p:sp>
      <p:sp>
        <p:nvSpPr>
          <p:cNvPr id="1579" name="Shape 22"/>
          <p:cNvSpPr/>
          <p:nvPr/>
        </p:nvSpPr>
        <p:spPr>
          <a:xfrm>
            <a:off x="33832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27AE60"/>
            </a:solidFill>
            <a:prstDash val="solid"/>
          </a:ln>
        </p:spPr>
      </p:sp>
      <p:sp>
        <p:nvSpPr>
          <p:cNvPr id="1580" name="Text 23"/>
          <p:cNvSpPr txBox="1"/>
          <p:nvPr/>
        </p:nvSpPr>
        <p:spPr>
          <a:xfrm>
            <a:off x="33832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581" name="Text 24"/>
          <p:cNvSpPr txBox="1"/>
          <p:nvPr/>
        </p:nvSpPr>
        <p:spPr>
          <a:xfrm>
            <a:off x="34290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train-test split</a:t>
            </a:r>
            <a:endParaRPr lang="en-US" sz="900" dirty="0"/>
          </a:p>
        </p:txBody>
      </p:sp>
      <p:sp>
        <p:nvSpPr>
          <p:cNvPr id="1582" name="Shape 25"/>
          <p:cNvSpPr/>
          <p:nvPr/>
        </p:nvSpPr>
        <p:spPr>
          <a:xfrm>
            <a:off x="5047488" y="4206240"/>
            <a:ext cx="146304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583" name="Shape 26"/>
          <p:cNvSpPr/>
          <p:nvPr/>
        </p:nvSpPr>
        <p:spPr>
          <a:xfrm>
            <a:off x="52120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27AE60"/>
            </a:solidFill>
            <a:prstDash val="solid"/>
          </a:ln>
        </p:spPr>
      </p:sp>
      <p:sp>
        <p:nvSpPr>
          <p:cNvPr id="1584" name="Text 27"/>
          <p:cNvSpPr txBox="1"/>
          <p:nvPr/>
        </p:nvSpPr>
        <p:spPr>
          <a:xfrm>
            <a:off x="52120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50" dirty="0"/>
          </a:p>
        </p:txBody>
      </p:sp>
      <p:sp>
        <p:nvSpPr>
          <p:cNvPr id="1585" name="Text 28"/>
          <p:cNvSpPr txBox="1"/>
          <p:nvPr/>
        </p:nvSpPr>
        <p:spPr>
          <a:xfrm>
            <a:off x="52578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imbalanced-learn, class_weight</a:t>
            </a:r>
            <a:endParaRPr lang="en-US" sz="900" dirty="0"/>
          </a:p>
        </p:txBody>
      </p:sp>
      <p:sp>
        <p:nvSpPr>
          <p:cNvPr id="1586" name="Shape 29"/>
          <p:cNvSpPr/>
          <p:nvPr/>
        </p:nvSpPr>
        <p:spPr>
          <a:xfrm>
            <a:off x="6876288" y="4206240"/>
            <a:ext cx="146304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587" name="Shape 30"/>
          <p:cNvSpPr/>
          <p:nvPr/>
        </p:nvSpPr>
        <p:spPr>
          <a:xfrm>
            <a:off x="70408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27AE60"/>
            </a:solidFill>
            <a:prstDash val="solid"/>
          </a:ln>
        </p:spPr>
      </p:sp>
      <p:sp>
        <p:nvSpPr>
          <p:cNvPr id="1588" name="Text 31"/>
          <p:cNvSpPr txBox="1"/>
          <p:nvPr/>
        </p:nvSpPr>
        <p:spPr>
          <a:xfrm>
            <a:off x="70408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1589" name="Text 32"/>
          <p:cNvSpPr txBox="1"/>
          <p:nvPr/>
        </p:nvSpPr>
        <p:spPr>
          <a:xfrm>
            <a:off x="70866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training set; untouched test set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</a:rPr>
              <a:t>MODULE 4: MODEL TRAINING &amp; OPTIMISATION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Shape 0"/>
          <p:cNvSpPr/>
          <p:nvPr/>
        </p:nvSpPr>
        <p:spPr>
          <a:xfrm>
            <a:off x="365760" y="1005840"/>
            <a:ext cx="2743200" cy="356616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591" name="Shape 1"/>
          <p:cNvSpPr/>
          <p:nvPr/>
        </p:nvSpPr>
        <p:spPr>
          <a:xfrm>
            <a:off x="1124712" y="1216152"/>
            <a:ext cx="1225296" cy="1225296"/>
          </a:xfrm>
          <a:prstGeom prst="ellipse">
            <a:avLst/>
          </a:prstGeom>
          <a:ln w="15875">
            <a:solidFill>
              <a:srgbClr val="C96A0A"/>
            </a:solidFill>
            <a:prstDash val="dash"/>
          </a:ln>
        </p:spPr>
      </p:sp>
      <p:sp>
        <p:nvSpPr>
          <p:cNvPr id="1592" name="Shape 2"/>
          <p:cNvSpPr/>
          <p:nvPr/>
        </p:nvSpPr>
        <p:spPr>
          <a:xfrm>
            <a:off x="1188720" y="1280160"/>
            <a:ext cx="1097280" cy="1097280"/>
          </a:xfrm>
          <a:prstGeom prst="ellipse">
            <a:avLst/>
          </a:prstGeom>
          <a:solidFill>
            <a:srgbClr val="C96A0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593" name="Image 0" descr="/home/claude/ic/Fa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094" y="1532534"/>
            <a:ext cx="592531" cy="592531"/>
          </a:xfrm>
          <a:prstGeom prst="rect">
            <a:avLst/>
          </a:prstGeom>
        </p:spPr>
      </p:pic>
      <p:sp>
        <p:nvSpPr>
          <p:cNvPr id="1594" name="Text 3"/>
          <p:cNvSpPr txBox="1"/>
          <p:nvPr/>
        </p:nvSpPr>
        <p:spPr>
          <a:xfrm>
            <a:off x="36576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1595" name="Text 4"/>
          <p:cNvSpPr txBox="1"/>
          <p:nvPr/>
        </p:nvSpPr>
        <p:spPr>
          <a:xfrm>
            <a:off x="50292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Optimisation</a:t>
            </a:r>
            <a:endParaRPr lang="en-US" sz="1700" dirty="0"/>
          </a:p>
        </p:txBody>
      </p:sp>
      <p:sp>
        <p:nvSpPr>
          <p:cNvPr id="1596" name="Text 5"/>
          <p:cNvSpPr txBox="1"/>
          <p:nvPr/>
        </p:nvSpPr>
        <p:spPr>
          <a:xfrm>
            <a:off x="50292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auditioning several detectives and hiring the best."</a:t>
            </a:r>
            <a:endParaRPr lang="en-US" sz="1100" dirty="0"/>
          </a:p>
        </p:txBody>
      </p:sp>
      <p:sp>
        <p:nvSpPr>
          <p:cNvPr id="1597" name="Text 6"/>
          <p:cNvSpPr txBox="1"/>
          <p:nvPr/>
        </p:nvSpPr>
        <p:spPr>
          <a:xfrm>
            <a:off x="3383280" y="1005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598" name="Shape 7"/>
          <p:cNvSpPr/>
          <p:nvPr/>
        </p:nvSpPr>
        <p:spPr>
          <a:xfrm>
            <a:off x="3383280" y="1417320"/>
            <a:ext cx="292608" cy="292608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599" name="Text 8"/>
          <p:cNvSpPr txBox="1"/>
          <p:nvPr/>
        </p:nvSpPr>
        <p:spPr>
          <a:xfrm>
            <a:off x="33832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00" name="Text 9"/>
          <p:cNvSpPr txBox="1"/>
          <p:nvPr/>
        </p:nvSpPr>
        <p:spPr>
          <a:xfrm>
            <a:off x="37947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Regression, Random Forest, XGBoost, Isolation Forest</a:t>
            </a:r>
            <a:endParaRPr lang="en-US" sz="1150" dirty="0"/>
          </a:p>
        </p:txBody>
      </p:sp>
      <p:sp>
        <p:nvSpPr>
          <p:cNvPr id="1601" name="Shape 10"/>
          <p:cNvSpPr/>
          <p:nvPr/>
        </p:nvSpPr>
        <p:spPr>
          <a:xfrm>
            <a:off x="3383280" y="1892808"/>
            <a:ext cx="292608" cy="292608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602" name="Text 11"/>
          <p:cNvSpPr txBox="1"/>
          <p:nvPr/>
        </p:nvSpPr>
        <p:spPr>
          <a:xfrm>
            <a:off x="338328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03" name="Text 12"/>
          <p:cNvSpPr txBox="1"/>
          <p:nvPr/>
        </p:nvSpPr>
        <p:spPr>
          <a:xfrm>
            <a:off x="3794760" y="18470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with GridSearch / Optuna and 5-fold CV</a:t>
            </a:r>
            <a:endParaRPr lang="en-US" sz="1150" dirty="0"/>
          </a:p>
        </p:txBody>
      </p:sp>
      <p:sp>
        <p:nvSpPr>
          <p:cNvPr id="1604" name="Shape 13"/>
          <p:cNvSpPr/>
          <p:nvPr/>
        </p:nvSpPr>
        <p:spPr>
          <a:xfrm>
            <a:off x="3383280" y="2368296"/>
            <a:ext cx="292608" cy="292608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605" name="Text 14"/>
          <p:cNvSpPr txBox="1"/>
          <p:nvPr/>
        </p:nvSpPr>
        <p:spPr>
          <a:xfrm>
            <a:off x="338328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06" name="Text 15"/>
          <p:cNvSpPr txBox="1"/>
          <p:nvPr/>
        </p:nvSpPr>
        <p:spPr>
          <a:xfrm>
            <a:off x="3794760" y="23225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decision threshold: recall versus false alarms</a:t>
            </a:r>
            <a:endParaRPr lang="en-US" sz="1150" dirty="0"/>
          </a:p>
        </p:txBody>
      </p:sp>
      <p:sp>
        <p:nvSpPr>
          <p:cNvPr id="1607" name="Shape 16"/>
          <p:cNvSpPr/>
          <p:nvPr/>
        </p:nvSpPr>
        <p:spPr>
          <a:xfrm>
            <a:off x="3383280" y="2843784"/>
            <a:ext cx="292608" cy="292608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608" name="Text 17"/>
          <p:cNvSpPr txBox="1"/>
          <p:nvPr/>
        </p:nvSpPr>
        <p:spPr>
          <a:xfrm>
            <a:off x="338328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09" name="Text 18"/>
          <p:cNvSpPr txBox="1"/>
          <p:nvPr/>
        </p:nvSpPr>
        <p:spPr>
          <a:xfrm>
            <a:off x="3794760" y="2798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model on the same data</a:t>
            </a:r>
            <a:endParaRPr lang="en-US" sz="1150" dirty="0"/>
          </a:p>
        </p:txBody>
      </p:sp>
      <p:sp>
        <p:nvSpPr>
          <p:cNvPr id="1610" name="Shape 19"/>
          <p:cNvSpPr/>
          <p:nvPr/>
        </p:nvSpPr>
        <p:spPr>
          <a:xfrm>
            <a:off x="3383280" y="3319272"/>
            <a:ext cx="292608" cy="292608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611" name="Text 20"/>
          <p:cNvSpPr txBox="1"/>
          <p:nvPr/>
        </p:nvSpPr>
        <p:spPr>
          <a:xfrm>
            <a:off x="338328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12" name="Text 21"/>
          <p:cNvSpPr txBox="1"/>
          <p:nvPr/>
        </p:nvSpPr>
        <p:spPr>
          <a:xfrm>
            <a:off x="3794760" y="32735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best model (expected: XGBoost + SMOTE)</a:t>
            </a:r>
            <a:endParaRPr lang="en-US" sz="1150" dirty="0"/>
          </a:p>
        </p:txBody>
      </p:sp>
      <p:sp>
        <p:nvSpPr>
          <p:cNvPr id="1613" name="Shape 22"/>
          <p:cNvSpPr/>
          <p:nvPr/>
        </p:nvSpPr>
        <p:spPr>
          <a:xfrm>
            <a:off x="33832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F28C28"/>
            </a:solidFill>
            <a:prstDash val="solid"/>
          </a:ln>
        </p:spPr>
      </p:sp>
      <p:sp>
        <p:nvSpPr>
          <p:cNvPr id="1614" name="Text 23"/>
          <p:cNvSpPr txBox="1"/>
          <p:nvPr/>
        </p:nvSpPr>
        <p:spPr>
          <a:xfrm>
            <a:off x="33832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615" name="Text 24"/>
          <p:cNvSpPr txBox="1"/>
          <p:nvPr/>
        </p:nvSpPr>
        <p:spPr>
          <a:xfrm>
            <a:off x="34290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training set</a:t>
            </a:r>
            <a:endParaRPr lang="en-US" sz="900" dirty="0"/>
          </a:p>
        </p:txBody>
      </p:sp>
      <p:sp>
        <p:nvSpPr>
          <p:cNvPr id="1616" name="Shape 25"/>
          <p:cNvSpPr/>
          <p:nvPr/>
        </p:nvSpPr>
        <p:spPr>
          <a:xfrm>
            <a:off x="5047488" y="4206240"/>
            <a:ext cx="146304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617" name="Shape 26"/>
          <p:cNvSpPr/>
          <p:nvPr/>
        </p:nvSpPr>
        <p:spPr>
          <a:xfrm>
            <a:off x="52120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F28C28"/>
            </a:solidFill>
            <a:prstDash val="solid"/>
          </a:ln>
        </p:spPr>
      </p:sp>
      <p:sp>
        <p:nvSpPr>
          <p:cNvPr id="1618" name="Text 27"/>
          <p:cNvSpPr txBox="1"/>
          <p:nvPr/>
        </p:nvSpPr>
        <p:spPr>
          <a:xfrm>
            <a:off x="52120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50" dirty="0"/>
          </a:p>
        </p:txBody>
      </p:sp>
      <p:sp>
        <p:nvSpPr>
          <p:cNvPr id="1619" name="Text 28"/>
          <p:cNvSpPr txBox="1"/>
          <p:nvPr/>
        </p:nvSpPr>
        <p:spPr>
          <a:xfrm>
            <a:off x="52578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 joblib</a:t>
            </a:r>
            <a:endParaRPr lang="en-US" sz="900" dirty="0"/>
          </a:p>
        </p:txBody>
      </p:sp>
      <p:sp>
        <p:nvSpPr>
          <p:cNvPr id="1620" name="Shape 29"/>
          <p:cNvSpPr/>
          <p:nvPr/>
        </p:nvSpPr>
        <p:spPr>
          <a:xfrm>
            <a:off x="6876288" y="4206240"/>
            <a:ext cx="146304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621" name="Shape 30"/>
          <p:cNvSpPr/>
          <p:nvPr/>
        </p:nvSpPr>
        <p:spPr>
          <a:xfrm>
            <a:off x="70408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F28C28"/>
            </a:solidFill>
            <a:prstDash val="solid"/>
          </a:ln>
        </p:spPr>
      </p:sp>
      <p:sp>
        <p:nvSpPr>
          <p:cNvPr id="1622" name="Text 31"/>
          <p:cNvSpPr txBox="1"/>
          <p:nvPr/>
        </p:nvSpPr>
        <p:spPr>
          <a:xfrm>
            <a:off x="70408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1623" name="Text 32"/>
          <p:cNvSpPr txBox="1"/>
          <p:nvPr/>
        </p:nvSpPr>
        <p:spPr>
          <a:xfrm>
            <a:off x="70866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and tuned threshold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</a:rPr>
              <a:t>MODULE 5: EVALUATION &amp; ALERT OUTPUT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Shape 0"/>
          <p:cNvSpPr/>
          <p:nvPr/>
        </p:nvSpPr>
        <p:spPr>
          <a:xfrm>
            <a:off x="365760" y="1005840"/>
            <a:ext cx="2743200" cy="3566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25" name="Shape 1"/>
          <p:cNvSpPr/>
          <p:nvPr/>
        </p:nvSpPr>
        <p:spPr>
          <a:xfrm>
            <a:off x="1124712" y="1216152"/>
            <a:ext cx="1225296" cy="1225296"/>
          </a:xfrm>
          <a:prstGeom prst="ellipse">
            <a:avLst/>
          </a:prstGeom>
          <a:ln w="15875">
            <a:solidFill>
              <a:srgbClr val="B03A2E"/>
            </a:solidFill>
            <a:prstDash val="dash"/>
          </a:ln>
        </p:spPr>
      </p:sp>
      <p:sp>
        <p:nvSpPr>
          <p:cNvPr id="1626" name="Shape 2"/>
          <p:cNvSpPr/>
          <p:nvPr/>
        </p:nvSpPr>
        <p:spPr>
          <a:xfrm>
            <a:off x="1188720" y="1280160"/>
            <a:ext cx="1097280" cy="1097280"/>
          </a:xfrm>
          <a:prstGeom prst="ellipse">
            <a:avLst/>
          </a:prstGeom>
          <a:solidFill>
            <a:srgbClr val="B03A2E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627" name="Image 0" descr="/home/claude/ic/FaClipboard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094" y="1532534"/>
            <a:ext cx="592531" cy="592531"/>
          </a:xfrm>
          <a:prstGeom prst="rect">
            <a:avLst/>
          </a:prstGeom>
        </p:spPr>
      </p:pic>
      <p:sp>
        <p:nvSpPr>
          <p:cNvPr id="1628" name="Text 3"/>
          <p:cNvSpPr txBox="1"/>
          <p:nvPr/>
        </p:nvSpPr>
        <p:spPr>
          <a:xfrm>
            <a:off x="36576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1629" name="Text 4"/>
          <p:cNvSpPr txBox="1"/>
          <p:nvPr/>
        </p:nvSpPr>
        <p:spPr>
          <a:xfrm>
            <a:off x="50292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Alert Output</a:t>
            </a:r>
            <a:endParaRPr lang="en-US" sz="1700" dirty="0"/>
          </a:p>
        </p:txBody>
      </p:sp>
      <p:sp>
        <p:nvSpPr>
          <p:cNvPr id="1630" name="Text 5"/>
          <p:cNvSpPr txBox="1"/>
          <p:nvPr/>
        </p:nvSpPr>
        <p:spPr>
          <a:xfrm>
            <a:off x="502920" y="3474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a final exam, plus a report card analysts can read."</a:t>
            </a:r>
            <a:endParaRPr lang="en-US" sz="1100" dirty="0"/>
          </a:p>
        </p:txBody>
      </p:sp>
      <p:sp>
        <p:nvSpPr>
          <p:cNvPr id="1631" name="Text 6"/>
          <p:cNvSpPr txBox="1"/>
          <p:nvPr/>
        </p:nvSpPr>
        <p:spPr>
          <a:xfrm>
            <a:off x="3383280" y="1005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632" name="Shape 7"/>
          <p:cNvSpPr/>
          <p:nvPr/>
        </p:nvSpPr>
        <p:spPr>
          <a:xfrm>
            <a:off x="3383280" y="1417320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33" name="Text 8"/>
          <p:cNvSpPr txBox="1"/>
          <p:nvPr/>
        </p:nvSpPr>
        <p:spPr>
          <a:xfrm>
            <a:off x="33832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34" name="Text 9"/>
          <p:cNvSpPr txBox="1"/>
          <p:nvPr/>
        </p:nvSpPr>
        <p:spPr>
          <a:xfrm>
            <a:off x="37947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model on the untouched test set</a:t>
            </a:r>
            <a:endParaRPr lang="en-US" sz="1150" dirty="0"/>
          </a:p>
        </p:txBody>
      </p:sp>
      <p:sp>
        <p:nvSpPr>
          <p:cNvPr id="1635" name="Shape 10"/>
          <p:cNvSpPr/>
          <p:nvPr/>
        </p:nvSpPr>
        <p:spPr>
          <a:xfrm>
            <a:off x="3383280" y="1892808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36" name="Text 11"/>
          <p:cNvSpPr txBox="1"/>
          <p:nvPr/>
        </p:nvSpPr>
        <p:spPr>
          <a:xfrm>
            <a:off x="338328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37" name="Text 12"/>
          <p:cNvSpPr txBox="1"/>
          <p:nvPr/>
        </p:nvSpPr>
        <p:spPr>
          <a:xfrm>
            <a:off x="3794760" y="18470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precision, recall, F1, ROC-AUC, PR-AUC, confusion matrix</a:t>
            </a:r>
            <a:endParaRPr lang="en-US" sz="1150" dirty="0"/>
          </a:p>
        </p:txBody>
      </p:sp>
      <p:sp>
        <p:nvSpPr>
          <p:cNvPr id="1638" name="Shape 13"/>
          <p:cNvSpPr/>
          <p:nvPr/>
        </p:nvSpPr>
        <p:spPr>
          <a:xfrm>
            <a:off x="3383280" y="2368296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39" name="Text 14"/>
          <p:cNvSpPr txBox="1"/>
          <p:nvPr/>
        </p:nvSpPr>
        <p:spPr>
          <a:xfrm>
            <a:off x="338328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40" name="Text 15"/>
          <p:cNvSpPr txBox="1"/>
          <p:nvPr/>
        </p:nvSpPr>
        <p:spPr>
          <a:xfrm>
            <a:off x="3794760" y="23225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alert with SHAP so analysts see why</a:t>
            </a:r>
            <a:endParaRPr lang="en-US" sz="1150" dirty="0"/>
          </a:p>
        </p:txBody>
      </p:sp>
      <p:sp>
        <p:nvSpPr>
          <p:cNvPr id="1641" name="Shape 16"/>
          <p:cNvSpPr/>
          <p:nvPr/>
        </p:nvSpPr>
        <p:spPr>
          <a:xfrm>
            <a:off x="3383280" y="2843784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42" name="Text 17"/>
          <p:cNvSpPr txBox="1"/>
          <p:nvPr/>
        </p:nvSpPr>
        <p:spPr>
          <a:xfrm>
            <a:off x="338328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43" name="Text 18"/>
          <p:cNvSpPr txBox="1"/>
          <p:nvPr/>
        </p:nvSpPr>
        <p:spPr>
          <a:xfrm>
            <a:off x="3794760" y="2798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 through a Flask / FastAPI endpoint</a:t>
            </a:r>
            <a:endParaRPr lang="en-US" sz="1150" dirty="0"/>
          </a:p>
        </p:txBody>
      </p:sp>
      <p:sp>
        <p:nvSpPr>
          <p:cNvPr id="1644" name="Shape 19"/>
          <p:cNvSpPr/>
          <p:nvPr/>
        </p:nvSpPr>
        <p:spPr>
          <a:xfrm>
            <a:off x="3383280" y="3319272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45" name="Text 20"/>
          <p:cNvSpPr txBox="1"/>
          <p:nvPr/>
        </p:nvSpPr>
        <p:spPr>
          <a:xfrm>
            <a:off x="338328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46" name="Text 21"/>
          <p:cNvSpPr txBox="1"/>
          <p:nvPr/>
        </p:nvSpPr>
        <p:spPr>
          <a:xfrm>
            <a:off x="3794760" y="32735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fraud probability and decision: alert or approve</a:t>
            </a:r>
            <a:endParaRPr lang="en-US" sz="1150" dirty="0"/>
          </a:p>
        </p:txBody>
      </p:sp>
      <p:sp>
        <p:nvSpPr>
          <p:cNvPr id="1647" name="Shape 22"/>
          <p:cNvSpPr/>
          <p:nvPr/>
        </p:nvSpPr>
        <p:spPr>
          <a:xfrm>
            <a:off x="33832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E74C3C"/>
            </a:solidFill>
            <a:prstDash val="solid"/>
          </a:ln>
        </p:spPr>
      </p:sp>
      <p:sp>
        <p:nvSpPr>
          <p:cNvPr id="1648" name="Text 23"/>
          <p:cNvSpPr txBox="1"/>
          <p:nvPr/>
        </p:nvSpPr>
        <p:spPr>
          <a:xfrm>
            <a:off x="33832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649" name="Text 24"/>
          <p:cNvSpPr txBox="1"/>
          <p:nvPr/>
        </p:nvSpPr>
        <p:spPr>
          <a:xfrm>
            <a:off x="34290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and unseen test data</a:t>
            </a:r>
            <a:endParaRPr lang="en-US" sz="900" dirty="0"/>
          </a:p>
        </p:txBody>
      </p:sp>
      <p:sp>
        <p:nvSpPr>
          <p:cNvPr id="1650" name="Shape 25"/>
          <p:cNvSpPr/>
          <p:nvPr/>
        </p:nvSpPr>
        <p:spPr>
          <a:xfrm>
            <a:off x="5047488" y="4206240"/>
            <a:ext cx="146304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651" name="Shape 26"/>
          <p:cNvSpPr/>
          <p:nvPr/>
        </p:nvSpPr>
        <p:spPr>
          <a:xfrm>
            <a:off x="52120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E74C3C"/>
            </a:solidFill>
            <a:prstDash val="solid"/>
          </a:ln>
        </p:spPr>
      </p:sp>
      <p:sp>
        <p:nvSpPr>
          <p:cNvPr id="1652" name="Text 27"/>
          <p:cNvSpPr txBox="1"/>
          <p:nvPr/>
        </p:nvSpPr>
        <p:spPr>
          <a:xfrm>
            <a:off x="52120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50" dirty="0"/>
          </a:p>
        </p:txBody>
      </p:sp>
      <p:sp>
        <p:nvSpPr>
          <p:cNvPr id="1653" name="Text 28"/>
          <p:cNvSpPr txBox="1"/>
          <p:nvPr/>
        </p:nvSpPr>
        <p:spPr>
          <a:xfrm>
            <a:off x="52578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SHAP, Flask / FastAPI</a:t>
            </a:r>
            <a:endParaRPr lang="en-US" sz="900" dirty="0"/>
          </a:p>
        </p:txBody>
      </p:sp>
      <p:sp>
        <p:nvSpPr>
          <p:cNvPr id="1654" name="Shape 29"/>
          <p:cNvSpPr/>
          <p:nvPr/>
        </p:nvSpPr>
        <p:spPr>
          <a:xfrm>
            <a:off x="6876288" y="4206240"/>
            <a:ext cx="146304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655" name="Shape 30"/>
          <p:cNvSpPr/>
          <p:nvPr/>
        </p:nvSpPr>
        <p:spPr>
          <a:xfrm>
            <a:off x="7040880" y="3840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E74C3C"/>
            </a:solidFill>
            <a:prstDash val="solid"/>
          </a:ln>
        </p:spPr>
      </p:sp>
      <p:sp>
        <p:nvSpPr>
          <p:cNvPr id="1656" name="Text 31"/>
          <p:cNvSpPr txBox="1"/>
          <p:nvPr/>
        </p:nvSpPr>
        <p:spPr>
          <a:xfrm>
            <a:off x="7040880" y="3867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1657" name="Text 32"/>
          <p:cNvSpPr txBox="1"/>
          <p:nvPr/>
        </p:nvSpPr>
        <p:spPr>
          <a:xfrm>
            <a:off x="7086600" y="4050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score, alert decision, report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CONCLUSION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Shape 0"/>
          <p:cNvSpPr/>
          <p:nvPr/>
        </p:nvSpPr>
        <p:spPr>
          <a:xfrm>
            <a:off x="365760" y="1097280"/>
            <a:ext cx="5120640" cy="868680"/>
          </a:xfrm>
          <a:prstGeom prst="rect">
            <a:avLst/>
          </a:prstGeom>
          <a:solidFill>
            <a:srgbClr val="F4F6FA"/>
          </a:solidFill>
          <a:ln w="15875">
            <a:solidFill>
              <a:srgbClr val="F28C28"/>
            </a:solidFill>
            <a:prstDash val="solid"/>
          </a:ln>
        </p:spPr>
      </p:sp>
      <p:sp>
        <p:nvSpPr>
          <p:cNvPr id="1659" name="Shape 1"/>
          <p:cNvSpPr/>
          <p:nvPr/>
        </p:nvSpPr>
        <p:spPr>
          <a:xfrm>
            <a:off x="553212" y="1170432"/>
            <a:ext cx="722376" cy="722376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660" name="Shape 2"/>
          <p:cNvSpPr/>
          <p:nvPr/>
        </p:nvSpPr>
        <p:spPr>
          <a:xfrm>
            <a:off x="617220" y="1234440"/>
            <a:ext cx="594360" cy="5943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661" name="Image 0" descr="/home/claude/ic/Fa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23" y="1371143"/>
            <a:ext cx="320954" cy="320954"/>
          </a:xfrm>
          <a:prstGeom prst="rect">
            <a:avLst/>
          </a:prstGeom>
        </p:spPr>
      </p:pic>
      <p:sp>
        <p:nvSpPr>
          <p:cNvPr id="1662" name="Text 3"/>
          <p:cNvSpPr txBox="1"/>
          <p:nvPr/>
        </p:nvSpPr>
        <p:spPr>
          <a:xfrm>
            <a:off x="1417320" y="10972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adapts to new fraud patterns far better than fixed rules.</a:t>
            </a:r>
            <a:endParaRPr lang="en-US" sz="1300" dirty="0"/>
          </a:p>
        </p:txBody>
      </p:sp>
      <p:sp>
        <p:nvSpPr>
          <p:cNvPr id="1663" name="Shape 4"/>
          <p:cNvSpPr/>
          <p:nvPr/>
        </p:nvSpPr>
        <p:spPr>
          <a:xfrm>
            <a:off x="365760" y="2103120"/>
            <a:ext cx="5120640" cy="868680"/>
          </a:xfrm>
          <a:prstGeom prst="rect">
            <a:avLst/>
          </a:prstGeom>
          <a:solidFill>
            <a:srgbClr val="F4F6FA"/>
          </a:solidFill>
          <a:ln w="15875">
            <a:solidFill>
              <a:srgbClr val="27AE60"/>
            </a:solidFill>
            <a:prstDash val="solid"/>
          </a:ln>
        </p:spPr>
      </p:sp>
      <p:sp>
        <p:nvSpPr>
          <p:cNvPr id="1664" name="Shape 5"/>
          <p:cNvSpPr/>
          <p:nvPr/>
        </p:nvSpPr>
        <p:spPr>
          <a:xfrm>
            <a:off x="553212" y="2176272"/>
            <a:ext cx="722376" cy="722376"/>
          </a:xfrm>
          <a:prstGeom prst="ellipse">
            <a:avLst/>
          </a:prstGeom>
          <a:ln w="15875">
            <a:solidFill>
              <a:srgbClr val="27AE60"/>
            </a:solidFill>
            <a:prstDash val="dash"/>
          </a:ln>
        </p:spPr>
      </p:sp>
      <p:sp>
        <p:nvSpPr>
          <p:cNvPr id="1665" name="Shape 6"/>
          <p:cNvSpPr/>
          <p:nvPr/>
        </p:nvSpPr>
        <p:spPr>
          <a:xfrm>
            <a:off x="617220" y="2240280"/>
            <a:ext cx="594360" cy="59436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666" name="Image 1" descr="/home/claude/ic/FaBalance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23" y="2376983"/>
            <a:ext cx="320954" cy="320954"/>
          </a:xfrm>
          <a:prstGeom prst="rect">
            <a:avLst/>
          </a:prstGeom>
        </p:spPr>
      </p:pic>
      <p:sp>
        <p:nvSpPr>
          <p:cNvPr id="1667" name="Text 7"/>
          <p:cNvSpPr txBox="1"/>
          <p:nvPr/>
        </p:nvSpPr>
        <p:spPr>
          <a:xfrm>
            <a:off x="1417320" y="21031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plus XGBoost gives high recall with controlled false alarms.</a:t>
            </a:r>
            <a:endParaRPr lang="en-US" sz="1300" dirty="0"/>
          </a:p>
        </p:txBody>
      </p:sp>
      <p:sp>
        <p:nvSpPr>
          <p:cNvPr id="1668" name="Shape 8"/>
          <p:cNvSpPr/>
          <p:nvPr/>
        </p:nvSpPr>
        <p:spPr>
          <a:xfrm>
            <a:off x="365760" y="3108960"/>
            <a:ext cx="5120640" cy="868680"/>
          </a:xfrm>
          <a:prstGeom prst="rect">
            <a:avLst/>
          </a:prstGeom>
          <a:solidFill>
            <a:srgbClr val="F4F6FA"/>
          </a:solidFill>
          <a:ln w="15875">
            <a:solidFill>
              <a:srgbClr val="7B4BC9"/>
            </a:solidFill>
            <a:prstDash val="solid"/>
          </a:ln>
        </p:spPr>
      </p:sp>
      <p:sp>
        <p:nvSpPr>
          <p:cNvPr id="1669" name="Shape 9"/>
          <p:cNvSpPr/>
          <p:nvPr/>
        </p:nvSpPr>
        <p:spPr>
          <a:xfrm>
            <a:off x="553212" y="3182112"/>
            <a:ext cx="722376" cy="722376"/>
          </a:xfrm>
          <a:prstGeom prst="ellipse">
            <a:avLst/>
          </a:prstGeom>
          <a:ln w="15875">
            <a:solidFill>
              <a:srgbClr val="7B4BC9"/>
            </a:solidFill>
            <a:prstDash val="dash"/>
          </a:ln>
        </p:spPr>
      </p:sp>
      <p:sp>
        <p:nvSpPr>
          <p:cNvPr id="1670" name="Shape 10"/>
          <p:cNvSpPr/>
          <p:nvPr/>
        </p:nvSpPr>
        <p:spPr>
          <a:xfrm>
            <a:off x="617220" y="3246120"/>
            <a:ext cx="594360" cy="594360"/>
          </a:xfrm>
          <a:prstGeom prst="ellipse">
            <a:avLst/>
          </a:prstGeom>
          <a:solidFill>
            <a:srgbClr val="7B4BC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671" name="Image 2" descr="/home/claude/ic/Fa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923" y="3382823"/>
            <a:ext cx="320954" cy="320954"/>
          </a:xfrm>
          <a:prstGeom prst="rect">
            <a:avLst/>
          </a:prstGeom>
        </p:spPr>
      </p:pic>
      <p:sp>
        <p:nvSpPr>
          <p:cNvPr id="1672" name="Text 11"/>
          <p:cNvSpPr txBox="1"/>
          <p:nvPr/>
        </p:nvSpPr>
        <p:spPr>
          <a:xfrm>
            <a:off x="1417320" y="31089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by recall and PR-AUC, never by accuracy alone.</a:t>
            </a:r>
            <a:endParaRPr lang="en-US" sz="1300" dirty="0"/>
          </a:p>
        </p:txBody>
      </p:sp>
      <p:sp>
        <p:nvSpPr>
          <p:cNvPr id="1673" name="Shape 12"/>
          <p:cNvSpPr/>
          <p:nvPr/>
        </p:nvSpPr>
        <p:spPr>
          <a:xfrm>
            <a:off x="5715000" y="1097280"/>
            <a:ext cx="3063240" cy="28803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674" name="Shape 13"/>
          <p:cNvSpPr/>
          <p:nvPr/>
        </p:nvSpPr>
        <p:spPr>
          <a:xfrm>
            <a:off x="6816852" y="1353312"/>
            <a:ext cx="859536" cy="859536"/>
          </a:xfrm>
          <a:prstGeom prst="ellipse">
            <a:avLst/>
          </a:prstGeom>
          <a:ln w="15875">
            <a:solidFill>
              <a:srgbClr val="F28C28"/>
            </a:solidFill>
            <a:prstDash val="dash"/>
          </a:ln>
        </p:spPr>
      </p:sp>
      <p:sp>
        <p:nvSpPr>
          <p:cNvPr id="1675" name="Shape 14"/>
          <p:cNvSpPr/>
          <p:nvPr/>
        </p:nvSpPr>
        <p:spPr>
          <a:xfrm>
            <a:off x="6880860" y="1417320"/>
            <a:ext cx="731520" cy="73152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676" name="Image 3" descr="/home/claude/ic/Fa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9110" y="1585570"/>
            <a:ext cx="395021" cy="395021"/>
          </a:xfrm>
          <a:prstGeom prst="rect">
            <a:avLst/>
          </a:prstGeom>
        </p:spPr>
      </p:pic>
      <p:sp>
        <p:nvSpPr>
          <p:cNvPr id="1677" name="Text 15"/>
          <p:cNvSpPr txBox="1"/>
          <p:nvPr/>
        </p:nvSpPr>
        <p:spPr>
          <a:xfrm>
            <a:off x="571500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678" name="Text 16"/>
          <p:cNvSpPr txBox="1"/>
          <p:nvPr/>
        </p:nvSpPr>
        <p:spPr>
          <a:xfrm>
            <a:off x="5943600" y="26974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scoring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Concept-drift monitoring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banks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dashboard for analysts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38100" y="1835250"/>
            <a:ext cx="9067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chemeClr val="dk1"/>
                </a:solidFill>
              </a:rPr>
              <a:t>THANK YOU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</TotalTime>
  <Words>2046</Words>
  <Application>Microsoft Office PowerPoint</Application>
  <PresentationFormat>On-screen Show (16:9)</PresentationFormat>
  <Paragraphs>403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Simple Light</vt:lpstr>
      <vt:lpstr>AGI1242 – MACHINE LEARNING TECHNIQUES CIA 2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NAKUL R</dc:creator>
  <cp:lastModifiedBy>Vishaal Deva CR</cp:lastModifiedBy>
  <cp:revision>14</cp:revision>
  <dcterms:modified xsi:type="dcterms:W3CDTF">2026-10-05T01:47:37Z</dcterms:modified>
</cp:coreProperties>
</file>